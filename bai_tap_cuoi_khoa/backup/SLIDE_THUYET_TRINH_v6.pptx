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16283A"/>
                </a:solidFill>
                <a:latin typeface="Calibri" panose="020F0502020204030204"/>
                <a:ea typeface="+mn-ea"/>
                <a:cs typeface="+mn-cs"/>
              </a:defRPr>
            </a:pPr>
            <a:r>
              <a:rPr sz="1200" b="0" i="0" u="none" strike="noStrike">
                <a:solidFill>
                  <a:srgbClr val="16283A"/>
                </a:solidFill>
                <a:latin typeface="Calibri" panose="020F0502020204030204"/>
              </a:rPr>
              <a:t>Hành trình F1 trên nhà máy B (0,231 → 0,781)</a:t>
            </a:r>
            <a:endParaRPr sz="1200" b="0" i="0" u="none" strike="noStrike">
              <a:solidFill>
                <a:srgbClr val="16283A"/>
              </a:solidFill>
              <a:latin typeface="Calibri" panose="020F0502020204030204"/>
            </a:endParaRP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1F8A8C"/>
            </a:solidFill>
            <a:effectLst/>
          </c:spPr>
          <c:invertIfNegative val="0"/>
          <c:dLbls>
            <c:numFmt formatCode="0.000" sourceLinked="0"/>
            <c:spPr>
              <a:noFill/>
              <a:ln>
                <a:noFill/>
              </a:ln>
              <a:effectLst/>
            </c:spPr>
            <c:txPr>
              <a:bodyPr rot="0" spcFirstLastPara="0" vertOverflow="ellipsis" vert="horz" wrap="square" lIns="38100" tIns="19050" rIns="38100" bIns="19050" anchor="ctr" anchorCtr="1"/>
              <a:lstStyle/>
              <a:p>
                <a:pPr>
                  <a:defRPr lang="en-US" sz="900" b="0" i="0" u="none" strike="noStrike" kern="1200" baseline="0">
                    <a:solidFill>
                      <a:srgbClr val="1B2733"/>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v0 thô</c:v>
                </c:pt>
                <c:pt idx="1">
                  <c:v>v1 +FE</c:v>
                </c:pt>
                <c:pt idx="2">
                  <c:v>v2 RF</c:v>
                </c:pt>
                <c:pt idx="3">
                  <c:v>v3 rew.</c:v>
                </c:pt>
                <c:pt idx="4">
                  <c:v>v4 ngưỡng</c:v>
                </c:pt>
                <c:pt idx="5">
                  <c:v>v6 GỘP</c:v>
                </c:pt>
              </c:strCache>
            </c:strRef>
          </c:cat>
          <c:val>
            <c:numRef>
              <c:f>Sheet1!$B$2:$B$7</c:f>
              <c:numCache>
                <c:formatCode>General</c:formatCode>
                <c:ptCount val="6"/>
                <c:pt idx="0">
                  <c:v>0.231</c:v>
                </c:pt>
                <c:pt idx="1">
                  <c:v>0.352</c:v>
                </c:pt>
                <c:pt idx="2">
                  <c:v>0.769</c:v>
                </c:pt>
                <c:pt idx="3">
                  <c:v>0.772</c:v>
                </c:pt>
                <c:pt idx="4">
                  <c:v>0.773</c:v>
                </c:pt>
                <c:pt idx="5">
                  <c:v>0.781</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900" b="0" i="0" u="none" strike="noStrike" kern="1200" baseline="0">
                <a:solidFill>
                  <a:srgbClr val="5B6B7A"/>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0.9"/>
          <c:min val="0"/>
        </c:scaling>
        <c:delete val="0"/>
        <c:axPos val="l"/>
        <c:majorGridlines>
          <c:spPr>
            <a:ln w="12700" cap="flat" cmpd="sng" algn="ctr">
              <a:solidFill>
                <a:srgbClr val="D6DFE7"/>
              </a:solidFill>
              <a:prstDash val="solid"/>
              <a:round/>
            </a:ln>
          </c:spPr>
        </c:majorGridlines>
        <c:numFmt formatCode="General" sourceLinked="0"/>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800" b="0" i="0" u="none" strike="noStrike" kern="1200" baseline="0">
                <a:solidFill>
                  <a:srgbClr val="5B6B7A"/>
                </a:solidFill>
                <a:latin typeface="Arial" panose="020B0604020202020204"/>
                <a:ea typeface="+mn-ea"/>
                <a:cs typeface="+mn-cs"/>
              </a:defRPr>
            </a:pPr>
          </a:p>
        </c:txPr>
        <c:crossAx val="2094734554"/>
        <c:crosses val="autoZero"/>
        <c:crossBetween val="between"/>
        <c:majorUnit val="0.3"/>
      </c:valAx>
      <c:spPr>
        <a:noFill/>
        <a:ln>
          <a:noFill/>
        </a:ln>
        <a:effectLst/>
      </c:spPr>
    </c:plotArea>
    <c:plotVisOnly val="1"/>
    <c:dispBlanksAs val="span"/>
    <c:showDLblsOverMax val="0"/>
    <c:extLst>
      <c:ext uri="{0b15fc19-7d7d-44ad-8c2d-2c3a37ce22c3}">
        <chartProps xmlns="https://web.wps.cn/et/2018/main" chartId="{7ed63d31-e22e-4624-890e-d747d9a46ddf}"/>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MC/Người 1: Kính chào thầy/cô và các bạn. Nhóm em trình bày bài toán dự đoán máy CNC sắp hỏng trong bối cảnh 'dữ liệu lúc học khác dữ liệu lúc dùng thật' (distribution shift). Kết quả chốt: F1 = 0.781 trên nhà máy B, gấp 3.4 lần baseline, notebook chạy full không lỗi. Bài chia làm 4 phần do 4 thành viên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Nhóm em chia 4 phần. Người 1 trình bày bài toán và khám phá dữ liệu; Người 2 phần tiền xử lý, tạo đặc trưng và phát hiện shift; Người 3 xử lý shift và xây mô hình; Người 4 kết quả, độ tin cậy và kết luận. Hai khối nhiều điểm nhất là xử lý shift và kết quả thực trên nhà máy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Em bắt đầu với bài toán và phần khám phá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Mục tiêu là dự đoán nhị phân — máy có hỏng ở ca kế tiếp hay không — để bảo trì chủ động. Có 5 số đo cảm biến và 2 nhãn phân loại. Hai điểm khiến bài khó: thứ nhất máy hỏng chỉ ~8% nên rất hiếm, dùng accuracy là vô nghĩa, phải dùng F1 và AUC-PR; thứ hai, tập huấn luyện là nhà máy A còn tập chấm là nhà máy B với điều kiện vận hành khác — đó là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Distribution shift nghĩa là dữ liệu lúc học khác lúc dùng thật. Giống như học lái ở quê rồi ra thành phố. Điểm mấu chốt: cơ chế vật lý gây hỏng thì giống nhau ở A và B, chỉ có các con số đầu vào bị lệch — đây là covariate shift. Và luật chơi khó nhất: bị chấm trên B nhưng không được nhìn nhãn B. Chiến lược của nhóm gồm 3 bước: đo mức lệch, tạo đặc trưng miễn nhiễm với lệch, rồi tinh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Máy hỏng chỉ khoảng 7-8% ở cả hai nhà máy. Điều quan trọng: tỉ lệ hỏng gần như không đổi giữa A và B, nghĩa là cái lệch nằm ở số đo đầu vào chứ không phải ở nhãn — đây là covariate shift. Dữ liệu sạch: không thiếu, không trùng. Bảng bên phải cho thấy nhà máy B nóng hơn và quay nhanh hơn, riêng độ mòn dao gần như bằng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Định lượng mức lệch: nhà máy B nóng hơn 2-2.5 độ và độ dao động nhiệt rộng hơn gần 30%, quay nhanh hơn 70 vòng/phút, lực xoắn thấp hơn 8.5%. Riêng độ mòn dao gần như bằng nhau — đây là biến ổn định để mô hình bám vào. Trên histogram, phân phối A và B không trùng nhau, đó là shift nhìn thấy bằng mắt.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Về dấu hiệu hỏng: độ mòn dao tách rõ nhất. Các biến khác nhìn riêng thì yếu, nhưng máy hỏng có tốc độ và lực xoắn dồn về hai đầu — hỏng do quá tải hoặc thiếu tải, tức tín hiệu phi tuyến theo tổ hợp, nên cần mô hình cây và feature engineering. Kiểm tra thêm bằng chi-square: ca làm việc không lệch, nhưng loại sản phẩm có lệch. Và 2.8% máy B nằm ngoài dải giá trị của A — vùng này mô hình cây dễ sai, nhóm ghi vào phần hạn chế. Em xin chuyển cho bạn Người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Cảm ơn bạn. Em trình bày phần tiền xử lý, tạo đặc trưng và phát hiện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Tiền xử lý gồm chuẩn hoá số đo và mã hoá nhãn chữ. Quy tắc vàng chống rò rỉ dữ liệu: chỉ học tham số chuẩn hoá trên nhà máy A rồi áp cho cả hai, tuyệt đối không fit trên B. Nếu vi phạm sẽ có điểm ảo cao nhưng triển khai thật thất bại. Loại sản phẩm mã hoá theo thứ tự L&lt;M&lt;H, ca làm việc one-hot. Lớp hiếm xử lý bằng class_weight và scale_pos_weight khoảng 12.6. Tất cả gói trong Pipeline nên trong mỗi fold cross-validation đều fit lại đúng cách.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Đây là ý tưởng cốt lõi của cả bài. Thay vì tạo tích thô, nhóm mã hoá 'khoảng cách tới ngưỡng hỏng' cho 3 cơ chế: tản nhiệt kém, quá/thiếu công suất, và quá tải căng thẳng. Điểm hay là các ngưỡng này là hằng số vật lý của máy, không đổi giữa A và B, nên 3 đặc trưng miễn nhiễm với shift. Kiểm chứng: chỉ thêm 3 đặc trưng này, mô hình LogReg đơn giản đã mạnh gần gấp đôi, AUC-PR từ 0.22 lên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Nhóm dùng PSI và KS đo mức lệch từng biến. Hai biến nhiệt độ lệch rất mạnh, PSI 1.08 và 0.55. Ngược lại, 3 đặc trưng vật lý có PSI xấp xỉ 0, dù chúng được tạo từ chính nhiệt độ và tốc độ đang lệch — đây là bằng chứng số cho ý tưởng chính. Một lưu ý trung thực nhóm chủ động nêu: hai đặc trưng hinge phần lớn bằng 0 nên PSI bị bão hoà về 0; vì vậy bằng chứng bất biến mạnh hơn là drift-AUC 0.51 và bảng P(hỏng|cờ) ở slide sau, chứ không chỉ dựa vào PSI. Nêu điều này cho thấy nhóm hiểu sâu công cụ.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Kỹ thuật drift classifier: huấn luyện một mô hình đoán mẫu thuộc nhà máy A hay B, chỉ từ số đo. Nếu đoán dễ nghĩa là hai nhà máy khác nhau nhiều. Dùng toàn bộ số đo thô thì AUC 0.82 — lệch mạnh, thủ phạm là hai biến nhiệt độ. Nhưng chỉ dùng 3 đặc trưng vật lý thì AUC rơi về 0.51, gần như tung đồng xu — chúng tàng hình với shift. Củng cố thêm: tỉ lệ hỏng khi máy vượt ngưỡng nguy hiểm gần như giống nhau ở A và B, 0.84 so với 0.83, chứng tỏ cơ chế hỏng bất biến. Em chuyển cho bạn Người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Cảm ơn bạn. Em trình bày cách xử lý shift và xây dựng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Kỹ thuật xử lý shift thứ nhất là Importance Reweighting. Ý tưởng: máy A nào trông giống máy B thì cho trọng số cao hơn khi học, để mô hình học nghiêng về phân phối B. Trọng số lấy từ drift classifier, và phải chặn ≤ 10 để vài mẫu cá biệt không chi phối. Kết quả chỉ nhích nhẹ — và đây là tin tốt: nó chứng minh 3 đặc trưng vật lý đã gánh gần hết việc chống lệch, reweighting chỉ vá phần nhỏ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Vấn đề đạo đức: bị chấm trên B nhưng không được nhìn nhãn B. Giải pháp là IWV — Importance-Weighted Validation. Ta dùng dữ liệu A nhưng đánh trọng số density-ratio để nó giống phân phối B, tạo thành một bộ validation giả lập B mà không cần nhãn B. Nhờ đó mọi lựa chọn model và ngưỡng đều trung thực. Ngưỡng mặc định 0.5 không tối ưu cho lớp hiếm nên nhóm chỉnh lại để F1 cao nhất. Kiểm định cho thấy đường IWV bám sát đường thật trên B, nên harness đáng tin. Lưu ý ESS chỉ 25.5% nên có nhiễu, các bản đầu bảng coi như ngang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Nhóm thử 4 mô hình thuộc 3 trường phái: Logistic Regression làm mốc; Random Forest và ExtraTrees kiểu bagging nhiều cây bỏ phiếu, ổn định; và XGBoost kiểu boosting nhiều cây sửa lỗi nối tiếp, mạnh nhưng dễ overfit nhà máy A. Siêu tham số dò tự động bằng RandomizedSearchCV với StratifiedKFold 5 fold giữ đúng tỉ lệ hỏng, chấm theo AUC-PR. Việc chọn mô hình dùng IWV chứ không nhìn nhãn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Bảng so sánh toàn bộ hành trình trên nhà máy B. Baseline LogReg thô F1 chỉ 0.231. Thêm 3 đặc trưng vật lý lên 0.352. Chuyển sang mô hình cây nhảy vọt lên ~0.77. Reweighting và chỉnh ngưỡng giữ nguyên mức đó. Bản gộp cuối cùng đạt F1 0.781 — cao nhất. F1 là con số chính theo yêu cầu đề. Cột 'báo đúng' là Precision, 'bắt được' là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Bước cuối là gộp mô hình. Vì mỗi mô hình sai ở chỗ khác nhau, gộp lại sẽ bù trừ và ổn định hơn. Nhóm thử hai cách: Voting là trung bình Random Forest và XGBoost, mỗi cái 50%; Stacking là mô hình nhỏ học cách trộn. Chọn bằng IWV và chốt Voting vì đơn giản, khó overfit shift. Stacking nghiêng nặng XGBoost, cái dễ gãy trên B, nên giữ nhưng không chốt. Em xin chuyển cho bạn Người 4 trình bày kết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Cảm ơn bạn. Em trình bày kết quả cuối, độ tin cậy và bài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Kết quả chốt trên nhà máy B: F1 = 0.781, cao nhất trong mọi phiên bản. Bản chốt là gộp Random Forest và XGBoost bằng Voting, ngưỡng 0.705 chọn bằng IWV. Mô hình bắt được khoảng 75% máy sắp hỏng, và cứ 5 cảnh báo thì khoảng 4 đúng. So với baseline 0.231, đây là tiến bộ 3.4 lần. Đường PR-curve nằm cao hơn hẳn đường đoán bừa nên mô hình thực sự có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Đây là ma trận nhầm lẫn của bản chốt, giúp nhìn tường minh 4 ô. TP là bắt đúng máy hỏng — mục tiêu chính. FN là bỏ sót máy hỏng, tốn kém nhất vì máy dừng đột ngột. FP là báo động giả, chi phí chỉ là kiểm tra thừa nên rẻ hơn. Ở ngưỡng 0.705, Recall khoảng 75% và Precision khoảng 81%. Vì bỏ sót đắt hơn báo động giả, trong thực tế nhà máy có thể hạ ngưỡng để tăng Recall. Lưu ý: số cụ thể mỗi ô sẽ hiện sau khi chạy full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Vì chỉ có 477 máy hỏng ở B nên F1 có sai số, nhóm dùng bootstrap 2000 lần để báo khoảng tin cậy. F1 = 0.781 với khoảng tin cậy 95% từ 0.751 đến 0.809. Các bản đầu bảng chênh nhau rất nhỏ nên nhóm coi như ngang nhau, không thổi phồng hơn kém. Khi so cặp trực tiếp thì bản gộp thắng bản đơn 99.8% số lần nhưng biên độ nhỏ. Đây là cách trình bày trung thực về mặt thống kê.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Bài học vận hành: thứ nhất, theo dõi độ mòn dao là quan trọng nhất vì nó vừa báo hỏng tốt vừa can thiệp được bằng cách thay dao. Thứ hai, đặt cảnh báo theo ngưỡng vật lý thì dùng lại được khi đổi máy hay đổi nhà máy, không cần huấn luyện lại. Thứ ba, vì bỏ sót đắt hơn báo động giả, nhóm đề xuất hai mức cảnh báo: mức cao thì dừng máy kiểm tra ngay, mức thấp thì theo dõi và lên lịch bảo trì.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Nhóm trung thực nêu hạn chế: mô hình cây đoán kém ở 2.8% máy B nằm ngoài dải A; giả định cơ chế hỏng bất biến chưa kiểm chứng 100% vì không có nhãn B; độ tin IWV giới hạn với ESS 25.5%; và dữ liệu chỉ 5 số đo nên có trần hiệu năng. Hướng cải tiến: hiệu chỉnh lại ngưỡng công suất, thêm dữ liệu chuỗi thời gian, dùng domain adaptation nâng cao, và thu thập một ít nhãn B để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Slide này tổng hợp mọi quyết định kỹ thuật và lý do, cho thấy bài làm có mạch logic chặt chẽ — không quyết định nào là tuỳ tiện. Đây cũng là bảng tra để nhóm trả lời nhanh khi thầy/cô hỏi 'vì sao chọn cái này'. Ví dụ: dùng F1 vì lớp hiếm; 3 đặc trưng vật lý vì ngưỡng cơ chế bất biến qua shift; chọn model bằng IWV để không rò rỉ nhãn B; clip trọng số vì w thô nổ tới 57; chốt Voting vì đơn giản và khó overfit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Tóm lại, chìa khoá của bài là bám vào quy luật vật lý không đổi thay vì các con số thô đã lệch; nhờ đó mô hình học ở A vẫn chạy tốt trên B. Mọi lựa chọn đều trung thực qua IWV, không nhìn đáp án B. Kết quả F1 0.781, gấp 3.4 lần baseline. Nhóm em xin cảm ơn và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mời thầy/cô đặt câu hỏi. Phân công trả lời theo phần phụ trách; xem ngân hàng câu hỏi kèm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Text 1"/>
          <p:cNvSpPr/>
          <p:nvPr/>
        </p:nvSpPr>
        <p:spPr>
          <a:xfrm>
            <a:off x="731520" y="822960"/>
            <a:ext cx="8229600" cy="457200"/>
          </a:xfrm>
          <a:prstGeom prst="rect">
            <a:avLst/>
          </a:prstGeom>
          <a:noFill/>
        </p:spPr>
        <p:txBody>
          <a:bodyPr wrap="square" lIns="0" tIns="0" rIns="0" bIns="0" rtlCol="0" anchor="ctr"/>
          <a:lstStyle/>
          <a:p>
            <a:pPr marL="0" indent="0">
              <a:buNone/>
            </a:pPr>
            <a:r>
              <a:rPr lang="en-US" sz="1500" b="1" kern="0" spc="300" dirty="0">
                <a:solidFill>
                  <a:srgbClr val="F2A104"/>
                </a:solidFill>
                <a:latin typeface="Calibri" panose="020F0502020204030204" pitchFamily="34" charset="0"/>
                <a:ea typeface="Calibri" panose="020F0502020204030204" pitchFamily="34" charset="-122"/>
                <a:cs typeface="Calibri" panose="020F0502020204030204" pitchFamily="34" charset="-120"/>
              </a:rPr>
              <a:t>BẢO TRÌ DỰ ĐOÁN</a:t>
            </a:r>
            <a:endParaRPr lang="en-US" sz="1500" dirty="0"/>
          </a:p>
        </p:txBody>
      </p:sp>
      <p:sp>
        <p:nvSpPr>
          <p:cNvPr id="4" name="Text 2"/>
          <p:cNvSpPr/>
          <p:nvPr/>
        </p:nvSpPr>
        <p:spPr>
          <a:xfrm>
            <a:off x="731520" y="1280160"/>
            <a:ext cx="10515600" cy="1645920"/>
          </a:xfrm>
          <a:prstGeom prst="rect">
            <a:avLst/>
          </a:prstGeom>
          <a:noFill/>
        </p:spPr>
        <p:txBody>
          <a:bodyPr wrap="square" lIns="0" tIns="0" rIns="0" bIns="0" rtlCol="0" anchor="ctr"/>
          <a:lstStyle/>
          <a:p>
            <a:pPr marL="0" indent="0">
              <a:lnSpc>
                <a:spcPct val="102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Dự đoán Máy CNC sắp hỏng</a:t>
            </a:r>
            <a:endParaRPr lang="en-US" sz="3800" dirty="0"/>
          </a:p>
          <a:p>
            <a:pPr marL="0" indent="0">
              <a:lnSpc>
                <a:spcPct val="102000"/>
              </a:lnSpc>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khi dữ liệu lúc học ≠ lúc dùng thật</a:t>
            </a:r>
            <a:endParaRPr lang="en-US" sz="3800" dirty="0"/>
          </a:p>
        </p:txBody>
      </p:sp>
      <p:sp>
        <p:nvSpPr>
          <p:cNvPr id="5" name="Text 3"/>
          <p:cNvSpPr/>
          <p:nvPr/>
        </p:nvSpPr>
        <p:spPr>
          <a:xfrm>
            <a:off x="749808" y="2971800"/>
            <a:ext cx="10515600" cy="457200"/>
          </a:xfrm>
          <a:prstGeom prst="rect">
            <a:avLst/>
          </a:prstGeom>
          <a:noFill/>
        </p:spPr>
        <p:txBody>
          <a:bodyPr wrap="square" lIns="0" tIns="0" rIns="0" bIns="0" rtlCol="0" anchor="ctr"/>
          <a:lstStyle/>
          <a:p>
            <a:pPr marL="0" indent="0">
              <a:buNone/>
            </a:pPr>
            <a:r>
              <a:rPr lang="en-US" sz="1600" dirty="0">
                <a:solidFill>
                  <a:srgbClr val="CFE0EC"/>
                </a:solidFill>
                <a:latin typeface="Calibri" panose="020F0502020204030204" pitchFamily="34" charset="0"/>
                <a:ea typeface="Calibri" panose="020F0502020204030204" pitchFamily="34" charset="-122"/>
                <a:cs typeface="Calibri" panose="020F0502020204030204" pitchFamily="34" charset="-120"/>
              </a:rPr>
              <a:t>Bài tập cuối khoá — Machine Learning · Phân loại nhị phân dưới Distribution Shift</a:t>
            </a:r>
            <a:endParaRPr lang="en-US" sz="1600" dirty="0"/>
          </a:p>
        </p:txBody>
      </p:sp>
      <p:sp>
        <p:nvSpPr>
          <p:cNvPr id="6" name="Shape 4"/>
          <p:cNvSpPr/>
          <p:nvPr/>
        </p:nvSpPr>
        <p:spPr>
          <a:xfrm>
            <a:off x="731520" y="3977640"/>
            <a:ext cx="2514600" cy="1371600"/>
          </a:xfrm>
          <a:prstGeom prst="roundRect">
            <a:avLst>
              <a:gd name="adj" fmla="val 6667"/>
            </a:avLst>
          </a:prstGeom>
          <a:solidFill>
            <a:srgbClr val="22384E"/>
          </a:solidFill>
          <a:ln w="12700">
            <a:solidFill>
              <a:srgbClr val="33506B"/>
            </a:solidFill>
            <a:prstDash val="solid"/>
          </a:ln>
        </p:spPr>
      </p:sp>
      <p:sp>
        <p:nvSpPr>
          <p:cNvPr id="7" name="Text 5"/>
          <p:cNvSpPr/>
          <p:nvPr/>
        </p:nvSpPr>
        <p:spPr>
          <a:xfrm>
            <a:off x="731520" y="4087368"/>
            <a:ext cx="2514600" cy="685800"/>
          </a:xfrm>
          <a:prstGeom prst="rect">
            <a:avLst/>
          </a:prstGeom>
          <a:noFill/>
        </p:spPr>
        <p:txBody>
          <a:bodyPr wrap="square" lIns="0" tIns="0" rIns="0" bIns="0" rtlCol="0" anchor="ctr"/>
          <a:lstStyle/>
          <a:p>
            <a:pPr marL="0" indent="0" algn="ctr">
              <a:buNone/>
            </a:pPr>
            <a:r>
              <a:rPr lang="en-US" sz="3200" b="1" dirty="0">
                <a:solidFill>
                  <a:srgbClr val="F2A104"/>
                </a:solidFill>
                <a:latin typeface="Cambria" panose="02040503050406030204" pitchFamily="34" charset="0"/>
                <a:ea typeface="Cambria" panose="02040503050406030204" pitchFamily="34" charset="-122"/>
                <a:cs typeface="Cambria" panose="02040503050406030204" pitchFamily="34" charset="-120"/>
              </a:rPr>
              <a:t>0.781</a:t>
            </a:r>
            <a:endParaRPr lang="en-US" sz="3200" dirty="0"/>
          </a:p>
        </p:txBody>
      </p:sp>
      <p:sp>
        <p:nvSpPr>
          <p:cNvPr id="8" name="Text 6"/>
          <p:cNvSpPr/>
          <p:nvPr/>
        </p:nvSpPr>
        <p:spPr>
          <a:xfrm>
            <a:off x="8229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Điểm F1 trên nhà máy B</a:t>
            </a:r>
            <a:endParaRPr lang="en-US" sz="1150" dirty="0"/>
          </a:p>
        </p:txBody>
      </p:sp>
      <p:sp>
        <p:nvSpPr>
          <p:cNvPr id="9" name="Shape 7"/>
          <p:cNvSpPr/>
          <p:nvPr/>
        </p:nvSpPr>
        <p:spPr>
          <a:xfrm>
            <a:off x="3474720" y="3977640"/>
            <a:ext cx="2514600" cy="1371600"/>
          </a:xfrm>
          <a:prstGeom prst="roundRect">
            <a:avLst>
              <a:gd name="adj" fmla="val 6667"/>
            </a:avLst>
          </a:prstGeom>
          <a:solidFill>
            <a:srgbClr val="22384E"/>
          </a:solidFill>
          <a:ln w="12700">
            <a:solidFill>
              <a:srgbClr val="33506B"/>
            </a:solidFill>
            <a:prstDash val="solid"/>
          </a:ln>
        </p:spPr>
      </p:sp>
      <p:sp>
        <p:nvSpPr>
          <p:cNvPr id="10" name="Text 8"/>
          <p:cNvSpPr/>
          <p:nvPr/>
        </p:nvSpPr>
        <p:spPr>
          <a:xfrm>
            <a:off x="3474720" y="4087368"/>
            <a:ext cx="2514600" cy="685800"/>
          </a:xfrm>
          <a:prstGeom prst="rect">
            <a:avLst/>
          </a:prstGeom>
          <a:noFill/>
        </p:spPr>
        <p:txBody>
          <a:bodyPr wrap="square" lIns="0" tIns="0" rIns="0" bIns="0" rtlCol="0" anchor="ctr"/>
          <a:lstStyle/>
          <a:p>
            <a:pPr marL="0" indent="0" algn="ctr">
              <a:buNone/>
            </a:pPr>
            <a:r>
              <a:rPr lang="en-US" sz="3200" b="1" dirty="0">
                <a:solidFill>
                  <a:srgbClr val="1F8A8C"/>
                </a:solidFill>
                <a:latin typeface="Cambria" panose="02040503050406030204" pitchFamily="34" charset="0"/>
                <a:ea typeface="Cambria" panose="02040503050406030204" pitchFamily="34" charset="-122"/>
                <a:cs typeface="Cambria" panose="02040503050406030204" pitchFamily="34" charset="-120"/>
              </a:rPr>
              <a:t>3.4×</a:t>
            </a:r>
            <a:endParaRPr lang="en-US" sz="3200" dirty="0"/>
          </a:p>
        </p:txBody>
      </p:sp>
      <p:sp>
        <p:nvSpPr>
          <p:cNvPr id="11" name="Text 9"/>
          <p:cNvSpPr/>
          <p:nvPr/>
        </p:nvSpPr>
        <p:spPr>
          <a:xfrm>
            <a:off x="35661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so với mô hình ban đầu</a:t>
            </a:r>
            <a:endParaRPr lang="en-US" sz="1150" dirty="0"/>
          </a:p>
        </p:txBody>
      </p:sp>
      <p:sp>
        <p:nvSpPr>
          <p:cNvPr id="12" name="Shape 10"/>
          <p:cNvSpPr/>
          <p:nvPr/>
        </p:nvSpPr>
        <p:spPr>
          <a:xfrm>
            <a:off x="6217920" y="3977640"/>
            <a:ext cx="2514600" cy="1371600"/>
          </a:xfrm>
          <a:prstGeom prst="roundRect">
            <a:avLst>
              <a:gd name="adj" fmla="val 6667"/>
            </a:avLst>
          </a:prstGeom>
          <a:solidFill>
            <a:srgbClr val="22384E"/>
          </a:solidFill>
          <a:ln w="12700">
            <a:solidFill>
              <a:srgbClr val="33506B"/>
            </a:solidFill>
            <a:prstDash val="solid"/>
          </a:ln>
        </p:spPr>
      </p:sp>
      <p:sp>
        <p:nvSpPr>
          <p:cNvPr id="13" name="Text 11"/>
          <p:cNvSpPr/>
          <p:nvPr/>
        </p:nvSpPr>
        <p:spPr>
          <a:xfrm>
            <a:off x="6217920" y="4087368"/>
            <a:ext cx="2514600" cy="68580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~8%</a:t>
            </a:r>
            <a:endParaRPr lang="en-US" sz="3200" dirty="0"/>
          </a:p>
        </p:txBody>
      </p:sp>
      <p:sp>
        <p:nvSpPr>
          <p:cNvPr id="14" name="Text 12"/>
          <p:cNvSpPr/>
          <p:nvPr/>
        </p:nvSpPr>
        <p:spPr>
          <a:xfrm>
            <a:off x="63093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tỉ lệ máy hỏng (rất hiếm)</a:t>
            </a:r>
            <a:endParaRPr lang="en-US" sz="1150" dirty="0"/>
          </a:p>
        </p:txBody>
      </p:sp>
      <p:sp>
        <p:nvSpPr>
          <p:cNvPr id="15" name="Shape 13"/>
          <p:cNvSpPr/>
          <p:nvPr/>
        </p:nvSpPr>
        <p:spPr>
          <a:xfrm>
            <a:off x="8961120" y="3977640"/>
            <a:ext cx="2514600" cy="1371600"/>
          </a:xfrm>
          <a:prstGeom prst="roundRect">
            <a:avLst>
              <a:gd name="adj" fmla="val 6667"/>
            </a:avLst>
          </a:prstGeom>
          <a:solidFill>
            <a:srgbClr val="22384E"/>
          </a:solidFill>
          <a:ln w="12700">
            <a:solidFill>
              <a:srgbClr val="33506B"/>
            </a:solidFill>
            <a:prstDash val="solid"/>
          </a:ln>
        </p:spPr>
      </p:sp>
      <p:sp>
        <p:nvSpPr>
          <p:cNvPr id="16" name="Text 14"/>
          <p:cNvSpPr/>
          <p:nvPr/>
        </p:nvSpPr>
        <p:spPr>
          <a:xfrm>
            <a:off x="8961120" y="4087368"/>
            <a:ext cx="2514600" cy="685800"/>
          </a:xfrm>
          <a:prstGeom prst="rect">
            <a:avLst/>
          </a:prstGeom>
          <a:noFill/>
        </p:spPr>
        <p:txBody>
          <a:bodyPr wrap="square" lIns="0" tIns="0" rIns="0" bIns="0" rtlCol="0" anchor="ctr"/>
          <a:lstStyle/>
          <a:p>
            <a:pPr marL="0" indent="0" algn="ctr">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0</a:t>
            </a:r>
            <a:endParaRPr lang="en-US" sz="3200" dirty="0"/>
          </a:p>
        </p:txBody>
      </p:sp>
      <p:sp>
        <p:nvSpPr>
          <p:cNvPr id="17" name="Text 15"/>
          <p:cNvSpPr/>
          <p:nvPr/>
        </p:nvSpPr>
        <p:spPr>
          <a:xfrm>
            <a:off x="9052560" y="4800600"/>
            <a:ext cx="2331720" cy="457200"/>
          </a:xfrm>
          <a:prstGeom prst="rect">
            <a:avLst/>
          </a:prstGeom>
          <a:noFill/>
        </p:spPr>
        <p:txBody>
          <a:bodyPr wrap="square" lIns="0" tIns="0" rIns="0" bIns="0" rtlCol="0" anchor="ctr"/>
          <a:lstStyle/>
          <a:p>
            <a:pPr marL="0" indent="0" algn="ctr">
              <a:buNone/>
            </a:pPr>
            <a:r>
              <a:rPr lang="en-US" sz="1150" dirty="0">
                <a:solidFill>
                  <a:srgbClr val="CFE0EC"/>
                </a:solidFill>
                <a:latin typeface="Calibri" panose="020F0502020204030204" pitchFamily="34" charset="0"/>
                <a:ea typeface="Calibri" panose="020F0502020204030204" pitchFamily="34" charset="-122"/>
                <a:cs typeface="Calibri" panose="020F0502020204030204" pitchFamily="34" charset="-120"/>
              </a:rPr>
              <a:t>lỗi khi chạy full notebook</a:t>
            </a:r>
            <a:endParaRPr lang="en-US" sz="1150" dirty="0"/>
          </a:p>
        </p:txBody>
      </p:sp>
      <p:sp>
        <p:nvSpPr>
          <p:cNvPr id="18" name="Text 16"/>
          <p:cNvSpPr/>
          <p:nvPr/>
        </p:nvSpPr>
        <p:spPr>
          <a:xfrm>
            <a:off x="731520" y="5943600"/>
            <a:ext cx="10515600" cy="365760"/>
          </a:xfrm>
          <a:prstGeom prst="rect">
            <a:avLst/>
          </a:prstGeom>
          <a:noFill/>
        </p:spPr>
        <p:txBody>
          <a:bodyPr wrap="square" lIns="0" tIns="0" rIns="0" bIns="0" rtlCol="0" anchor="ctr"/>
          <a:lstStyle/>
          <a:p>
            <a:pPr marL="0" indent="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Nội dung</a:t>
            </a:r>
            <a:endParaRPr lang="en-US" sz="2700" dirty="0"/>
          </a:p>
        </p:txBody>
      </p:sp>
      <p:sp>
        <p:nvSpPr>
          <p:cNvPr id="3" name="Shape 1"/>
          <p:cNvSpPr/>
          <p:nvPr/>
        </p:nvSpPr>
        <p:spPr>
          <a:xfrm>
            <a:off x="640080" y="1874520"/>
            <a:ext cx="685800" cy="685800"/>
          </a:xfrm>
          <a:prstGeom prst="rect">
            <a:avLst/>
          </a:prstGeom>
          <a:solidFill>
            <a:srgbClr val="1F8A8C"/>
          </a:solidFill>
        </p:spPr>
      </p:sp>
      <p:sp>
        <p:nvSpPr>
          <p:cNvPr id="4" name="Text 2"/>
          <p:cNvSpPr/>
          <p:nvPr/>
        </p:nvSpPr>
        <p:spPr>
          <a:xfrm>
            <a:off x="640080" y="187452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2800" dirty="0"/>
          </a:p>
        </p:txBody>
      </p:sp>
      <p:sp>
        <p:nvSpPr>
          <p:cNvPr id="5" name="Shape 3"/>
          <p:cNvSpPr/>
          <p:nvPr/>
        </p:nvSpPr>
        <p:spPr>
          <a:xfrm>
            <a:off x="1554480" y="1737360"/>
            <a:ext cx="9994392" cy="960120"/>
          </a:xfrm>
          <a:prstGeom prst="roundRect">
            <a:avLst>
              <a:gd name="adj" fmla="val 7619"/>
            </a:avLst>
          </a:prstGeom>
          <a:solidFill>
            <a:srgbClr val="F3F6F9"/>
          </a:solidFill>
          <a:ln w="12700">
            <a:solidFill>
              <a:srgbClr val="D6DFE7"/>
            </a:solidFill>
            <a:prstDash val="solid"/>
          </a:ln>
        </p:spPr>
        <p:txBody>
          <a:bodyPr/>
          <a:p>
            <a:endParaRPr lang="en-US"/>
          </a:p>
        </p:txBody>
      </p:sp>
      <p:sp>
        <p:nvSpPr>
          <p:cNvPr id="7" name="Text 5"/>
          <p:cNvSpPr/>
          <p:nvPr/>
        </p:nvSpPr>
        <p:spPr>
          <a:xfrm>
            <a:off x="1783080" y="1901825"/>
            <a:ext cx="6949440" cy="713105"/>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Mở đầu · Bài toán · Khám phá dữ liệu (EDA)</a:t>
            </a:r>
            <a:endParaRPr lang="en-US" sz="1450" dirty="0"/>
          </a:p>
        </p:txBody>
      </p:sp>
      <p:sp>
        <p:nvSpPr>
          <p:cNvPr id="8" name="Text 6"/>
          <p:cNvSpPr/>
          <p:nvPr/>
        </p:nvSpPr>
        <p:spPr>
          <a:xfrm>
            <a:off x="8869680" y="1737360"/>
            <a:ext cx="2468880" cy="960120"/>
          </a:xfrm>
          <a:prstGeom prst="rect">
            <a:avLst/>
          </a:prstGeom>
          <a:noFill/>
        </p:spPr>
        <p:txBody>
          <a:bodyPr wrap="square" lIns="0" tIns="0" rIns="0" bIns="0" rtlCol="0" anchor="ctr"/>
          <a:lstStyle/>
          <a:p>
            <a:pPr marL="0" indent="0" algn="r">
              <a:buNone/>
            </a:pPr>
            <a:endParaRPr lang="en-US" sz="1300" dirty="0"/>
          </a:p>
        </p:txBody>
      </p:sp>
      <p:sp>
        <p:nvSpPr>
          <p:cNvPr id="9" name="Shape 7"/>
          <p:cNvSpPr/>
          <p:nvPr/>
        </p:nvSpPr>
        <p:spPr>
          <a:xfrm>
            <a:off x="640080" y="2971800"/>
            <a:ext cx="685800" cy="685800"/>
          </a:xfrm>
          <a:prstGeom prst="rect">
            <a:avLst/>
          </a:prstGeom>
          <a:solidFill>
            <a:srgbClr val="F2A104"/>
          </a:solidFill>
        </p:spPr>
      </p:sp>
      <p:sp>
        <p:nvSpPr>
          <p:cNvPr id="10" name="Text 8"/>
          <p:cNvSpPr/>
          <p:nvPr/>
        </p:nvSpPr>
        <p:spPr>
          <a:xfrm>
            <a:off x="640080" y="297180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2800" dirty="0"/>
          </a:p>
        </p:txBody>
      </p:sp>
      <p:sp>
        <p:nvSpPr>
          <p:cNvPr id="11" name="Shape 9"/>
          <p:cNvSpPr/>
          <p:nvPr/>
        </p:nvSpPr>
        <p:spPr>
          <a:xfrm>
            <a:off x="1554480" y="2834640"/>
            <a:ext cx="9994392" cy="960120"/>
          </a:xfrm>
          <a:prstGeom prst="roundRect">
            <a:avLst>
              <a:gd name="adj" fmla="val 7619"/>
            </a:avLst>
          </a:prstGeom>
          <a:solidFill>
            <a:srgbClr val="F3F6F9"/>
          </a:solidFill>
          <a:ln w="12700">
            <a:solidFill>
              <a:srgbClr val="D6DFE7"/>
            </a:solidFill>
            <a:prstDash val="solid"/>
          </a:ln>
        </p:spPr>
      </p:sp>
      <p:sp>
        <p:nvSpPr>
          <p:cNvPr id="13" name="Text 11"/>
          <p:cNvSpPr/>
          <p:nvPr/>
        </p:nvSpPr>
        <p:spPr>
          <a:xfrm>
            <a:off x="1783080" y="2903220"/>
            <a:ext cx="6949440" cy="808990"/>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Tiền xử lý, tạo đặc trưng · Phát hiện shift</a:t>
            </a:r>
            <a:endParaRPr lang="en-US" sz="1450" dirty="0"/>
          </a:p>
        </p:txBody>
      </p:sp>
      <p:sp>
        <p:nvSpPr>
          <p:cNvPr id="14" name="Text 12"/>
          <p:cNvSpPr/>
          <p:nvPr/>
        </p:nvSpPr>
        <p:spPr>
          <a:xfrm>
            <a:off x="8869680" y="2834640"/>
            <a:ext cx="2468880" cy="960120"/>
          </a:xfrm>
          <a:prstGeom prst="rect">
            <a:avLst/>
          </a:prstGeom>
          <a:noFill/>
        </p:spPr>
        <p:txBody>
          <a:bodyPr wrap="square" lIns="0" tIns="0" rIns="0" bIns="0" rtlCol="0" anchor="ctr"/>
          <a:lstStyle/>
          <a:p>
            <a:pPr marL="0" indent="0" algn="r">
              <a:buNone/>
            </a:pPr>
            <a:endParaRPr lang="en-US" sz="1300" dirty="0"/>
          </a:p>
        </p:txBody>
      </p:sp>
      <p:sp>
        <p:nvSpPr>
          <p:cNvPr id="15" name="Shape 13"/>
          <p:cNvSpPr/>
          <p:nvPr/>
        </p:nvSpPr>
        <p:spPr>
          <a:xfrm>
            <a:off x="640080" y="4069080"/>
            <a:ext cx="685800" cy="685800"/>
          </a:xfrm>
          <a:prstGeom prst="rect">
            <a:avLst/>
          </a:prstGeom>
          <a:solidFill>
            <a:srgbClr val="C4444E"/>
          </a:solidFill>
        </p:spPr>
      </p:sp>
      <p:sp>
        <p:nvSpPr>
          <p:cNvPr id="16" name="Text 14"/>
          <p:cNvSpPr/>
          <p:nvPr/>
        </p:nvSpPr>
        <p:spPr>
          <a:xfrm>
            <a:off x="640080" y="406908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2800" dirty="0"/>
          </a:p>
        </p:txBody>
      </p:sp>
      <p:sp>
        <p:nvSpPr>
          <p:cNvPr id="17" name="Shape 15"/>
          <p:cNvSpPr/>
          <p:nvPr/>
        </p:nvSpPr>
        <p:spPr>
          <a:xfrm>
            <a:off x="1554480" y="3931920"/>
            <a:ext cx="9994392" cy="960120"/>
          </a:xfrm>
          <a:prstGeom prst="roundRect">
            <a:avLst>
              <a:gd name="adj" fmla="val 7619"/>
            </a:avLst>
          </a:prstGeom>
          <a:solidFill>
            <a:srgbClr val="F3F6F9"/>
          </a:solidFill>
          <a:ln w="12700">
            <a:solidFill>
              <a:srgbClr val="D6DFE7"/>
            </a:solidFill>
            <a:prstDash val="solid"/>
          </a:ln>
        </p:spPr>
      </p:sp>
      <p:sp>
        <p:nvSpPr>
          <p:cNvPr id="19" name="Text 17"/>
          <p:cNvSpPr/>
          <p:nvPr/>
        </p:nvSpPr>
        <p:spPr>
          <a:xfrm>
            <a:off x="1783080" y="4023360"/>
            <a:ext cx="6949440" cy="786130"/>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Xử lý shift · Xây &amp; so sánh mô hình</a:t>
            </a:r>
            <a:endParaRPr lang="en-US" sz="1450" dirty="0"/>
          </a:p>
        </p:txBody>
      </p:sp>
      <p:sp>
        <p:nvSpPr>
          <p:cNvPr id="20" name="Text 18"/>
          <p:cNvSpPr/>
          <p:nvPr/>
        </p:nvSpPr>
        <p:spPr>
          <a:xfrm>
            <a:off x="8869680" y="3931920"/>
            <a:ext cx="2468880" cy="960120"/>
          </a:xfrm>
          <a:prstGeom prst="rect">
            <a:avLst/>
          </a:prstGeom>
          <a:noFill/>
        </p:spPr>
        <p:txBody>
          <a:bodyPr wrap="square" lIns="0" tIns="0" rIns="0" bIns="0" rtlCol="0" anchor="ctr"/>
          <a:lstStyle/>
          <a:p>
            <a:pPr marL="0" indent="0" algn="r">
              <a:buNone/>
            </a:pPr>
            <a:endParaRPr lang="en-US" sz="1300" dirty="0"/>
          </a:p>
        </p:txBody>
      </p:sp>
      <p:sp>
        <p:nvSpPr>
          <p:cNvPr id="21" name="Shape 19"/>
          <p:cNvSpPr/>
          <p:nvPr/>
        </p:nvSpPr>
        <p:spPr>
          <a:xfrm>
            <a:off x="640080" y="5166360"/>
            <a:ext cx="685800" cy="685800"/>
          </a:xfrm>
          <a:prstGeom prst="rect">
            <a:avLst/>
          </a:prstGeom>
          <a:solidFill>
            <a:srgbClr val="2E8B57"/>
          </a:solidFill>
        </p:spPr>
      </p:sp>
      <p:sp>
        <p:nvSpPr>
          <p:cNvPr id="22" name="Text 20"/>
          <p:cNvSpPr/>
          <p:nvPr/>
        </p:nvSpPr>
        <p:spPr>
          <a:xfrm>
            <a:off x="640080" y="5166360"/>
            <a:ext cx="685800" cy="685800"/>
          </a:xfrm>
          <a:prstGeom prst="rect">
            <a:avLst/>
          </a:prstGeom>
          <a:noFill/>
        </p:spPr>
        <p:txBody>
          <a:bodyPr wrap="square" lIns="0" tIns="0" rIns="0" bIns="0" rtlCol="0" anchor="ctr"/>
          <a:lstStyle/>
          <a:p>
            <a:pPr marL="0" indent="0" algn="ctr">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2800" dirty="0"/>
          </a:p>
        </p:txBody>
      </p:sp>
      <p:sp>
        <p:nvSpPr>
          <p:cNvPr id="23" name="Shape 21"/>
          <p:cNvSpPr/>
          <p:nvPr/>
        </p:nvSpPr>
        <p:spPr>
          <a:xfrm>
            <a:off x="1554480" y="5029200"/>
            <a:ext cx="9994392" cy="960120"/>
          </a:xfrm>
          <a:prstGeom prst="roundRect">
            <a:avLst>
              <a:gd name="adj" fmla="val 7619"/>
            </a:avLst>
          </a:prstGeom>
          <a:solidFill>
            <a:srgbClr val="F3F6F9"/>
          </a:solidFill>
          <a:ln w="12700">
            <a:solidFill>
              <a:srgbClr val="D6DFE7"/>
            </a:solidFill>
            <a:prstDash val="solid"/>
          </a:ln>
        </p:spPr>
      </p:sp>
      <p:sp>
        <p:nvSpPr>
          <p:cNvPr id="25" name="Text 23"/>
          <p:cNvSpPr/>
          <p:nvPr/>
        </p:nvSpPr>
        <p:spPr>
          <a:xfrm>
            <a:off x="1783080" y="5166995"/>
            <a:ext cx="6949440" cy="739775"/>
          </a:xfrm>
          <a:prstGeom prst="rect">
            <a:avLst/>
          </a:prstGeom>
          <a:noFill/>
        </p:spPr>
        <p:txBody>
          <a:bodyPr wrap="square" lIns="0" tIns="0" rIns="0" bIns="0" rtlCol="0" anchor="ctr"/>
          <a:lstStyle/>
          <a:p>
            <a:pPr marL="0" indent="0">
              <a:buNone/>
            </a:pPr>
            <a:r>
              <a:rPr lang="en-US" sz="1450" b="1" dirty="0">
                <a:solidFill>
                  <a:srgbClr val="1B2733"/>
                </a:solidFill>
                <a:latin typeface="Calibri" panose="020F0502020204030204" pitchFamily="34" charset="0"/>
                <a:ea typeface="Calibri" panose="020F0502020204030204" pitchFamily="34" charset="-122"/>
                <a:cs typeface="Calibri" panose="020F0502020204030204" pitchFamily="34" charset="-120"/>
              </a:rPr>
              <a:t>Kết quả · Độ tin cậy · Báo cáo · Kết luận</a:t>
            </a:r>
            <a:endParaRPr lang="en-US" sz="1450" dirty="0"/>
          </a:p>
        </p:txBody>
      </p:sp>
      <p:sp>
        <p:nvSpPr>
          <p:cNvPr id="26" name="Text 24"/>
          <p:cNvSpPr/>
          <p:nvPr/>
        </p:nvSpPr>
        <p:spPr>
          <a:xfrm>
            <a:off x="8869680" y="5029200"/>
            <a:ext cx="2468880" cy="960120"/>
          </a:xfrm>
          <a:prstGeom prst="rect">
            <a:avLst/>
          </a:prstGeom>
          <a:noFill/>
        </p:spPr>
        <p:txBody>
          <a:bodyPr wrap="square" lIns="0" tIns="0" rIns="0" bIns="0" rtlCol="0" anchor="ctr"/>
          <a:lstStyle/>
          <a:p>
            <a:pPr marL="0" indent="0" algn="r">
              <a:buNone/>
            </a:pPr>
            <a:endParaRPr lang="en-US" sz="1300" dirty="0"/>
          </a:p>
        </p:txBody>
      </p:sp>
      <p:sp>
        <p:nvSpPr>
          <p:cNvPr id="28" name="Text 26"/>
          <p:cNvSpPr/>
          <p:nvPr/>
        </p:nvSpPr>
        <p:spPr>
          <a:xfrm>
            <a:off x="777240" y="5806440"/>
            <a:ext cx="10634472" cy="566928"/>
          </a:xfrm>
          <a:prstGeom prst="rect">
            <a:avLst/>
          </a:prstGeom>
          <a:noFill/>
        </p:spPr>
        <p:txBody>
          <a:bodyPr wrap="square" lIns="0" tIns="0" rIns="0" bIns="0" rtlCol="0" anchor="ctr"/>
          <a:lstStyle/>
          <a:p>
            <a:pPr marL="0" indent="0">
              <a:buNone/>
            </a:pP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1F8A8C"/>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Mở đầu &amp; Khám phá dữ liệu</a:t>
            </a:r>
            <a:endParaRPr lang="en-US" sz="3400" dirty="0"/>
          </a:p>
        </p:txBody>
      </p:sp>
      <p:sp>
        <p:nvSpPr>
          <p:cNvPr id="7" name="Text 5"/>
          <p:cNvSpPr/>
          <p:nvPr/>
        </p:nvSpPr>
        <p:spPr>
          <a:xfrm>
            <a:off x="3566160" y="3480435"/>
            <a:ext cx="7680960" cy="82296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Bài toán, thách thức distribution shift, và bức tranh dữ liệu 2 nhà máy.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Bài toán: đoán trước máy nào sắp hỏng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 1</a:t>
            </a:r>
            <a:endParaRPr lang="en-US" sz="1200" dirty="0"/>
          </a:p>
        </p:txBody>
      </p:sp>
      <p:sp>
        <p:nvSpPr>
          <p:cNvPr id="5" name="Text 3"/>
          <p:cNvSpPr/>
          <p:nvPr/>
        </p:nvSpPr>
        <p:spPr>
          <a:xfrm>
            <a:off x="566928" y="1783080"/>
            <a:ext cx="6766560" cy="448056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Nhà máy có nhiều máy phay CNC. Ta muốn đoán 'máy nào sẽ hỏng ở ca kế tiếp' để SỬA TRƯỚC khi hỏng — chuyển từ bị động sang bảo trì chủ động.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Dữ liệu: 5 số đo (nhiệt độ môi trường, nhiệt độ máy, tốc độ quay, lực xoắn, độ mòn dao) + 2 nhãn phân loại (loại sản phẩm, ca làm việc).</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Chỉ ~8% máy thật sự hỏng → lớp hiếm. Đoán bừa 'không hỏng' vẫn đúng 92% nhưng vô dụng.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Học từ nhà máy cũ (Dây chuyền A) nhưng phải chạy tốt ở nhà máy mới (Dây chuyền B) — nóng hơn, quay nhanh hơn.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Đề gợi ý: máy hỏng theo 4 cơ chế vật lý (mòn dao, tản nhiệt kém, quá công suất, quá tải căng thẳng).</a:t>
            </a:r>
            <a:endParaRPr lang="en-US" sz="1550" dirty="0"/>
          </a:p>
        </p:txBody>
      </p:sp>
      <p:sp>
        <p:nvSpPr>
          <p:cNvPr id="6" name="Shape 4"/>
          <p:cNvSpPr/>
          <p:nvPr/>
        </p:nvSpPr>
        <p:spPr>
          <a:xfrm>
            <a:off x="7452360" y="1783080"/>
            <a:ext cx="4160520" cy="3291840"/>
          </a:xfrm>
          <a:prstGeom prst="roundRect">
            <a:avLst>
              <a:gd name="adj" fmla="val 2500"/>
            </a:avLst>
          </a:prstGeom>
          <a:solidFill>
            <a:srgbClr val="F3F6F9"/>
          </a:solidFill>
          <a:ln w="12700">
            <a:solidFill>
              <a:srgbClr val="D6DFE7"/>
            </a:solidFill>
            <a:prstDash val="solid"/>
          </a:ln>
        </p:spPr>
      </p:sp>
      <p:sp>
        <p:nvSpPr>
          <p:cNvPr id="7" name="Text 5"/>
          <p:cNvSpPr/>
          <p:nvPr/>
        </p:nvSpPr>
        <p:spPr>
          <a:xfrm>
            <a:off x="7616952" y="1892808"/>
            <a:ext cx="3831336" cy="307238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2 thách thức cốt lõi</a:t>
            </a:r>
            <a:endParaRPr lang="en-US" sz="1500" dirty="0"/>
          </a:p>
          <a:p>
            <a:pPr marL="0" indent="0">
              <a:spcAft>
                <a:spcPts val="400"/>
              </a:spcAft>
              <a:buNone/>
            </a:pPr>
            <a:r>
              <a:rPr lang="en-US" sz="1400" b="1" dirty="0">
                <a:solidFill>
                  <a:srgbClr val="C4444E"/>
                </a:solidFill>
                <a:latin typeface="Calibri" panose="020F0502020204030204" pitchFamily="34" charset="0"/>
                <a:ea typeface="Calibri" panose="020F0502020204030204" pitchFamily="34" charset="-122"/>
                <a:cs typeface="Calibri" panose="020F0502020204030204" pitchFamily="34" charset="-120"/>
              </a:rPr>
              <a:t>① Máy hỏng quá HIẾM (~8%)</a:t>
            </a:r>
            <a:endParaRPr lang="en-US" sz="1500" dirty="0"/>
          </a:p>
          <a:p>
            <a:pPr marL="0" indent="0">
              <a:spcAft>
                <a:spcPts val="12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cấm dùng accuracy; dùng F1 / AUC-PR</a:t>
            </a:r>
            <a:endParaRPr lang="en-US" sz="1500" dirty="0"/>
          </a:p>
          <a:p>
            <a:pPr marL="0" indent="0">
              <a:spcAft>
                <a:spcPts val="4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② Dữ liệu 2 nhà máy KHÁC nhau</a:t>
            </a:r>
            <a:endParaRPr lang="en-US" sz="1500" dirty="0"/>
          </a:p>
          <a:p>
            <a:pPr marL="0" indent="0">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distribution shift A → B</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Vì sao khó? — "dữ liệu lúc học ≠ lúc dùng"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1</a:t>
            </a:r>
            <a:endParaRPr lang="en-US" sz="1200" dirty="0"/>
          </a:p>
        </p:txBody>
      </p:sp>
      <p:sp>
        <p:nvSpPr>
          <p:cNvPr id="5" name="Text 3"/>
          <p:cNvSpPr/>
          <p:nvPr/>
        </p:nvSpPr>
        <p:spPr>
          <a:xfrm>
            <a:off x="566928" y="1170432"/>
            <a:ext cx="11091672" cy="457200"/>
          </a:xfrm>
          <a:prstGeom prst="rect">
            <a:avLst/>
          </a:prstGeom>
          <a:noFill/>
        </p:spPr>
        <p:txBody>
          <a:bodyPr wrap="square" lIns="0" tIns="0" rIns="0" bIns="0" rtlCol="0" anchor="ctr"/>
          <a:lstStyle/>
          <a:p>
            <a:pPr marL="0" indent="0">
              <a:buNone/>
            </a:pPr>
            <a:r>
              <a:rPr lang="en-US" sz="1400" i="1" dirty="0">
                <a:solidFill>
                  <a:srgbClr val="1F8A8C"/>
                </a:solidFill>
                <a:latin typeface="Calibri" panose="020F0502020204030204" pitchFamily="34" charset="0"/>
                <a:ea typeface="Calibri" panose="020F0502020204030204" pitchFamily="34" charset="-122"/>
                <a:cs typeface="Calibri" panose="020F0502020204030204" pitchFamily="34" charset="-120"/>
              </a:rPr>
              <a:t>Distribution shift: phân phối đầu vào ở nhà máy B lệch khỏi nhà máy A.</a:t>
            </a:r>
            <a:endParaRPr lang="en-US" sz="1400" dirty="0"/>
          </a:p>
        </p:txBody>
      </p:sp>
      <p:sp>
        <p:nvSpPr>
          <p:cNvPr id="6" name="Text 4"/>
          <p:cNvSpPr/>
          <p:nvPr/>
        </p:nvSpPr>
        <p:spPr>
          <a:xfrm>
            <a:off x="566928" y="1783080"/>
            <a:ext cx="6766560" cy="292608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Ví von: học lái xe ở đường quê, giờ phải chạy trong thành phố — cùng là lái, điều kiện khác hẳn.</a:t>
            </a:r>
            <a:endParaRPr lang="en-US" sz="1550" dirty="0"/>
          </a:p>
          <a:p>
            <a:pPr marL="203200" indent="-203200">
              <a:spcAft>
                <a:spcPts val="900"/>
              </a:spcAft>
              <a:buSzPct val="100000"/>
              <a:buChar char="•"/>
            </a:pPr>
            <a:r>
              <a:rPr lang="en-US" sz="1550" dirty="0">
                <a:solidFill>
                  <a:srgbClr val="2E8B57"/>
                </a:solidFill>
                <a:latin typeface="Calibri" panose="020F0502020204030204" pitchFamily="34" charset="0"/>
                <a:ea typeface="Calibri" panose="020F0502020204030204" pitchFamily="34" charset="-122"/>
                <a:cs typeface="Calibri" panose="020F0502020204030204" pitchFamily="34" charset="-120"/>
              </a:rPr>
              <a:t>May mắn: NGUYÊN NHÂN gây hỏng GIỐNG nhau ở A và B (cùng quy luật vật lý)…</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…nhưng CÁC CON SỐ (nhiệt độ, tốc độ) bị LỆCH → mô hình học thuộc lòng A dễ sai ở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Cái khó nhất: bị chấm trên B nhưng KHÔNG được xem đáp án của B (xem = gian lận / rò rỉ).</a:t>
            </a:r>
            <a:endParaRPr lang="en-US" sz="1550" dirty="0"/>
          </a:p>
        </p:txBody>
      </p:sp>
      <p:sp>
        <p:nvSpPr>
          <p:cNvPr id="7" name="Shape 5"/>
          <p:cNvSpPr/>
          <p:nvPr/>
        </p:nvSpPr>
        <p:spPr>
          <a:xfrm>
            <a:off x="7452360" y="1783080"/>
            <a:ext cx="4160520" cy="3840480"/>
          </a:xfrm>
          <a:prstGeom prst="roundRect">
            <a:avLst>
              <a:gd name="adj" fmla="val 2143"/>
            </a:avLst>
          </a:prstGeom>
          <a:solidFill>
            <a:srgbClr val="16283A"/>
          </a:solidFill>
          <a:ln w="12700">
            <a:solidFill>
              <a:srgbClr val="D6DFE7"/>
            </a:solidFill>
            <a:prstDash val="solid"/>
          </a:ln>
        </p:spPr>
      </p:sp>
      <p:sp>
        <p:nvSpPr>
          <p:cNvPr id="8" name="Text 6"/>
          <p:cNvSpPr/>
          <p:nvPr/>
        </p:nvSpPr>
        <p:spPr>
          <a:xfrm>
            <a:off x="7616952" y="1892808"/>
            <a:ext cx="3831336" cy="3621024"/>
          </a:xfrm>
          <a:prstGeom prst="rect">
            <a:avLst/>
          </a:prstGeom>
          <a:noFill/>
        </p:spPr>
        <p:txBody>
          <a:bodyPr wrap="square" lIns="0" tIns="0" rIns="0" bIns="0" rtlCol="0" anchor="t"/>
          <a:lstStyle/>
          <a:p>
            <a:pPr marL="0" indent="0">
              <a:spcAft>
                <a:spcPts val="1200"/>
              </a:spcAft>
              <a:buNone/>
            </a:pPr>
            <a:r>
              <a:rPr lang="en-US" sz="1500" b="1" dirty="0">
                <a:solidFill>
                  <a:srgbClr val="F2A104"/>
                </a:solidFill>
                <a:latin typeface="Calibri" panose="020F0502020204030204" pitchFamily="34" charset="0"/>
                <a:ea typeface="Calibri" panose="020F0502020204030204" pitchFamily="34" charset="-122"/>
                <a:cs typeface="Calibri" panose="020F0502020204030204" pitchFamily="34" charset="-120"/>
              </a:rPr>
              <a:t>Chiến lược 3 bước</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  Tìm &amp; ĐO mức lệch</a:t>
            </a:r>
            <a:endParaRPr lang="en-US" sz="1500" dirty="0"/>
          </a:p>
          <a:p>
            <a:pPr marL="0" indent="0">
              <a:spcAft>
                <a:spcPts val="1200"/>
              </a:spcAft>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PSI, KS, drift classifier</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  Tạo đặc trưng MIỄN NHIỄM lệch</a:t>
            </a:r>
            <a:endParaRPr lang="en-US" sz="1500" dirty="0"/>
          </a:p>
          <a:p>
            <a:pPr marL="0" indent="0">
              <a:spcAft>
                <a:spcPts val="1200"/>
              </a:spcAft>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neo vào ngưỡng vật lý bất biến</a:t>
            </a:r>
            <a:endParaRPr lang="en-US" sz="1500" dirty="0"/>
          </a:p>
          <a:p>
            <a:pPr marL="0" indent="0">
              <a:spcAft>
                <a:spcPts val="300"/>
              </a:spcAft>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  Tinh chỉnh thêm</a:t>
            </a:r>
            <a:endParaRPr lang="en-US" sz="1500" dirty="0"/>
          </a:p>
          <a:p>
            <a:pPr marL="0" indent="0">
              <a:buNone/>
            </a:pP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reweighting · threshold · ensemble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1.1 — Máy hỏng hiếm cỡ nào?</a:t>
            </a:r>
            <a:endParaRPr lang="en-US" sz="2700" dirty="0"/>
          </a:p>
        </p:txBody>
      </p:sp>
      <p:sp>
        <p:nvSpPr>
          <p:cNvPr id="5" name="Text 3"/>
          <p:cNvSpPr/>
          <p:nvPr/>
        </p:nvSpPr>
        <p:spPr>
          <a:xfrm>
            <a:off x="566928" y="1783080"/>
            <a:ext cx="4572000" cy="310896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Nhà máy A: 7,36% hỏng (1.031/14.000). Nhà máy B: 7,95% (477/6.000).</a:t>
            </a:r>
            <a:endParaRPr lang="en-US" sz="1550" dirty="0"/>
          </a:p>
          <a:p>
            <a:pPr marL="203200" indent="-203200">
              <a:spcAft>
                <a:spcPts val="900"/>
              </a:spcAft>
              <a:buSzPct val="100000"/>
              <a:buChar char="•"/>
            </a:pPr>
            <a:r>
              <a:rPr lang="en-US" sz="1550" dirty="0">
                <a:solidFill>
                  <a:srgbClr val="F2A104"/>
                </a:solidFill>
                <a:latin typeface="Calibri" panose="020F0502020204030204" pitchFamily="34" charset="0"/>
                <a:ea typeface="Calibri" panose="020F0502020204030204" pitchFamily="34" charset="-122"/>
                <a:cs typeface="Calibri" panose="020F0502020204030204" pitchFamily="34" charset="-120"/>
              </a:rPr>
              <a:t>Tỉ lệ hỏng gần như KHÔNG đổi A↔B → cái lệch nằm ở SỐ ĐO đầu vào, không phải ở nhãn.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Vì hỏng quá hiếm → KHÔNG dùng accuracy; dùng F1 (cân bằng bắt-đúng &amp; báo-đúng).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tra làm sạch: 0 giá trị thiếu, 0 hàng trùng lặp → giữ nguyên dữ liệu.</a:t>
            </a:r>
            <a:endParaRPr lang="en-US" sz="1550" dirty="0"/>
          </a:p>
        </p:txBody>
      </p:sp>
      <p:graphicFrame>
        <p:nvGraphicFramePr>
          <p:cNvPr id="8" name="Table 0"/>
          <p:cNvGraphicFramePr>
            <a:graphicFrameLocks noGrp="1"/>
          </p:cNvGraphicFramePr>
          <p:nvPr/>
        </p:nvGraphicFramePr>
        <p:xfrm>
          <a:off x="5394960" y="1783080"/>
          <a:ext cx="6217920" cy="2468880"/>
        </p:xfrm>
        <a:graphic>
          <a:graphicData uri="http://schemas.openxmlformats.org/drawingml/2006/table">
            <a:tbl>
              <a:tblPr/>
              <a:tblGrid>
                <a:gridCol w="2194560"/>
                <a:gridCol w="1005840"/>
                <a:gridCol w="1005840"/>
                <a:gridCol w="1005840"/>
                <a:gridCol w="1005840"/>
              </a:tblGrid>
              <a:tr h="41148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TB 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TB 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Dđ A</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Dđ B</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MT (K)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300,0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302,5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 (K)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310,0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311,9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2,9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quay</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1540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1610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1148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lực xoắn (Nm)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39,9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36,6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10,0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9,6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11480">
                <a:tc>
                  <a:txBody>
                    <a:bodyPr/>
                    <a:lstStyle/>
                    <a:p>
                      <a:pPr marL="0" indent="0" algn="l">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127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127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6" name="Text 5"/>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Tỉ lệ hỏng ổn định (7,4%→8,0%) ⇒ đây là covariate shift, hợp với importance reweighting.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1.2 — Hai nhà máy lệch nhau thế nào?</a:t>
            </a:r>
            <a:endParaRPr lang="en-US" sz="2700" dirty="0"/>
          </a:p>
        </p:txBody>
      </p:sp>
      <p:graphicFrame>
        <p:nvGraphicFramePr>
          <p:cNvPr id="9" name="Table 0"/>
          <p:cNvGraphicFramePr>
            <a:graphicFrameLocks noGrp="1"/>
          </p:cNvGraphicFramePr>
          <p:nvPr/>
        </p:nvGraphicFramePr>
        <p:xfrm>
          <a:off x="567055" y="1965960"/>
          <a:ext cx="4547870" cy="3401695"/>
        </p:xfrm>
        <a:graphic>
          <a:graphicData uri="http://schemas.openxmlformats.org/drawingml/2006/table">
            <a:tbl>
              <a:tblPr/>
              <a:tblGrid>
                <a:gridCol w="2131695"/>
                <a:gridCol w="2416175"/>
              </a:tblGrid>
              <a:tr h="566928">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B so với 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môi trường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+2,5° (rộng hơn +29%)</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+1,9° (rộng hơn +28%)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quay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nhanh hơn +70 v/ph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56692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lực xoắn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thấp hơn 8,5%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56692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bằng nhau (ổn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647688" y="1709928"/>
            <a:ext cx="5038344" cy="2569464"/>
          </a:xfrm>
          <a:prstGeom prst="roundRect">
            <a:avLst>
              <a:gd name="adj" fmla="val 2135"/>
            </a:avLst>
          </a:prstGeom>
          <a:solidFill>
            <a:srgbClr val="FFFFFF"/>
          </a:solidFill>
          <a:ln w="12700">
            <a:solidFill>
              <a:srgbClr val="D6DFE7"/>
            </a:solidFill>
            <a:prstDash val="solid"/>
          </a:ln>
        </p:spPr>
      </p:sp>
      <p:pic>
        <p:nvPicPr>
          <p:cNvPr id="7" name="Image 0" descr="C:/Users/LEGION/AppData/Local/Temp/claude/D--studies-Master-s-Degree-MSE-Session-1-ML-GroupProject-bai-tap-cuoi-khoa/b0b6e863-aebc-4618-98e8-e039d29f16c9/scratchpad/imgs/cell014.png"/>
          <p:cNvPicPr>
            <a:picLocks noChangeAspect="1"/>
          </p:cNvPicPr>
          <p:nvPr/>
        </p:nvPicPr>
        <p:blipFill>
          <a:blip r:embed="rId1"/>
          <a:stretch>
            <a:fillRect/>
          </a:stretch>
        </p:blipFill>
        <p:spPr>
          <a:xfrm>
            <a:off x="5261610" y="1014730"/>
            <a:ext cx="6559550" cy="4104640"/>
          </a:xfrm>
          <a:prstGeom prst="rect">
            <a:avLst/>
          </a:prstGeom>
        </p:spPr>
      </p:pic>
      <p:sp>
        <p:nvSpPr>
          <p:cNvPr id="8" name="Text 4"/>
          <p:cNvSpPr/>
          <p:nvPr/>
        </p:nvSpPr>
        <p:spPr>
          <a:xfrm>
            <a:off x="5904865" y="5264658"/>
            <a:ext cx="489204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Phân phối số đo A (xanh) vs B (đỏ) — không trùng = shift</a:t>
            </a:r>
            <a:endParaRPr lang="en-US" sz="1000" dirty="0"/>
          </a:p>
        </p:txBody>
      </p:sp>
      <p:sp>
        <p:nvSpPr>
          <p:cNvPr id="5" name="Shape 5"/>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sp>
      <p:sp>
        <p:nvSpPr>
          <p:cNvPr id="10" name="Text 6"/>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Hai màu A/B trên histogram KHÔNG trùng nhau = shift nhìn tận mắt. Độ mòn dao là chỗ neo tin cậy.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1.3–1.4 — Dấu hiệu hỏng &amp; vùng lạ</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Người1</a:t>
            </a:r>
            <a:endParaRPr lang="en-US" sz="1200" dirty="0"/>
          </a:p>
        </p:txBody>
      </p:sp>
      <p:sp>
        <p:nvSpPr>
          <p:cNvPr id="5" name="Shape 3"/>
          <p:cNvSpPr/>
          <p:nvPr/>
        </p:nvSpPr>
        <p:spPr>
          <a:xfrm>
            <a:off x="566928" y="1737360"/>
            <a:ext cx="5486400" cy="3931920"/>
          </a:xfrm>
          <a:prstGeom prst="roundRect">
            <a:avLst>
              <a:gd name="adj" fmla="val 2093"/>
            </a:avLst>
          </a:prstGeom>
          <a:solidFill>
            <a:srgbClr val="F3F6F9"/>
          </a:solidFill>
          <a:ln w="12700">
            <a:solidFill>
              <a:srgbClr val="D6DFE7"/>
            </a:solidFill>
            <a:prstDash val="solid"/>
          </a:ln>
        </p:spPr>
        <p:txBody>
          <a:bodyPr/>
          <a:p/>
        </p:txBody>
      </p:sp>
      <p:sp>
        <p:nvSpPr>
          <p:cNvPr id="6" name="Text 4"/>
          <p:cNvSpPr/>
          <p:nvPr/>
        </p:nvSpPr>
        <p:spPr>
          <a:xfrm>
            <a:off x="731520" y="1810512"/>
            <a:ext cx="5157216" cy="1874519"/>
          </a:xfrm>
          <a:prstGeom prst="rect">
            <a:avLst/>
          </a:prstGeom>
          <a:noFill/>
        </p:spPr>
        <p:txBody>
          <a:bodyPr wrap="square" lIns="0" tIns="0" rIns="0" bIns="0" rtlCol="0" anchor="t"/>
          <a:lstStyle/>
          <a:p>
            <a:pPr marL="0" indent="0">
              <a:spcAft>
                <a:spcPts val="1000"/>
              </a:spcAft>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1.3  Số đo nào báo hiệu hỏng?</a:t>
            </a:r>
            <a:endParaRPr lang="en-US" sz="1500" dirty="0"/>
          </a:p>
          <a:p>
            <a:pPr marL="0" indent="0">
              <a:spcAft>
                <a:spcPts val="8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Độ mòn dao rõ nhất: máy hỏng ~177 vs lành ~123 → dồn mức mòn CAO.</a:t>
            </a:r>
            <a:endParaRPr lang="en-US" sz="1500" dirty="0"/>
          </a:p>
          <a:p>
            <a:pPr marL="0" indent="0">
              <a:spcAft>
                <a:spcPts val="8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Biến khác tương quan tuyến tính ≈ 0 nhưng KHÔNG vô dụng:</a:t>
            </a:r>
            <a:endParaRPr lang="en-US" sz="1500" dirty="0"/>
          </a:p>
          <a:p>
            <a:pPr marL="0" indent="0">
              <a:spcAft>
                <a:spcPts val="800"/>
              </a:spcAft>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 Tốc độ quay dồn đuôi THẤP; mômen xoắn dồn CẢ HAI ĐẦU → quá/thiếu tải.</a:t>
            </a:r>
            <a:endParaRPr lang="en-US" sz="1500" dirty="0"/>
          </a:p>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 dấu hiệu phức tạp theo tổ hợp → cần mô hình mạnh + đặc trưng khéo (Phần 2).</a:t>
            </a:r>
            <a:endParaRPr lang="en-US" sz="1500" dirty="0"/>
          </a:p>
        </p:txBody>
      </p:sp>
      <p:sp>
        <p:nvSpPr>
          <p:cNvPr id="7" name="Shape 5"/>
          <p:cNvSpPr/>
          <p:nvPr/>
        </p:nvSpPr>
        <p:spPr>
          <a:xfrm>
            <a:off x="6830568" y="1709928"/>
            <a:ext cx="3209544" cy="2962656"/>
          </a:xfrm>
          <a:prstGeom prst="roundRect">
            <a:avLst>
              <a:gd name="adj" fmla="val 1852"/>
            </a:avLst>
          </a:prstGeom>
          <a:solidFill>
            <a:srgbClr val="FFFFFF"/>
          </a:solidFill>
          <a:ln w="12700">
            <a:solidFill>
              <a:srgbClr val="D6DFE7"/>
            </a:solidFill>
            <a:prstDash val="solid"/>
          </a:ln>
        </p:spPr>
        <p:txBody>
          <a:bodyPr/>
          <a:p/>
        </p:txBody>
      </p:sp>
      <p:pic>
        <p:nvPicPr>
          <p:cNvPr id="8" name="Image 0" descr="C:/Users/LEGION/AppData/Local/Temp/claude/D--studies-Master-s-Degree-MSE-Session-1-ML-GroupProject-bai-tap-cuoi-khoa/b0b6e863-aebc-4618-98e8-e039d29f16c9/scratchpad/imgs/cell023.png"/>
          <p:cNvPicPr>
            <a:picLocks noChangeAspect="1"/>
          </p:cNvPicPr>
          <p:nvPr/>
        </p:nvPicPr>
        <p:blipFill>
          <a:blip r:embed="rId1"/>
          <a:stretch>
            <a:fillRect/>
          </a:stretch>
        </p:blipFill>
        <p:spPr>
          <a:xfrm>
            <a:off x="6903720" y="1783080"/>
            <a:ext cx="3063240" cy="2816352"/>
          </a:xfrm>
          <a:prstGeom prst="rect">
            <a:avLst/>
          </a:prstGeom>
        </p:spPr>
      </p:pic>
      <p:sp>
        <p:nvSpPr>
          <p:cNvPr id="9" name="Text 6"/>
          <p:cNvSpPr/>
          <p:nvPr/>
        </p:nvSpPr>
        <p:spPr>
          <a:xfrm>
            <a:off x="6903720" y="4617720"/>
            <a:ext cx="306324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Ma trận tương quan (Train)</a:t>
            </a:r>
            <a:endParaRPr lang="en-US" sz="1000" dirty="0"/>
          </a:p>
        </p:txBody>
      </p:sp>
      <p:sp>
        <p:nvSpPr>
          <p:cNvPr id="10" name="Shape 7"/>
          <p:cNvSpPr/>
          <p:nvPr/>
        </p:nvSpPr>
        <p:spPr>
          <a:xfrm>
            <a:off x="6263640" y="4800600"/>
            <a:ext cx="5349240" cy="868680"/>
          </a:xfrm>
          <a:prstGeom prst="roundRect">
            <a:avLst>
              <a:gd name="adj" fmla="val 8421"/>
            </a:avLst>
          </a:prstGeom>
          <a:solidFill>
            <a:srgbClr val="F3F6F9"/>
          </a:solidFill>
          <a:ln w="12700">
            <a:solidFill>
              <a:srgbClr val="D6DFE7"/>
            </a:solidFill>
            <a:prstDash val="solid"/>
          </a:ln>
        </p:spPr>
        <p:txBody>
          <a:bodyPr/>
          <a:p/>
        </p:txBody>
      </p:sp>
      <p:sp>
        <p:nvSpPr>
          <p:cNvPr id="11" name="Text 8"/>
          <p:cNvSpPr/>
          <p:nvPr/>
        </p:nvSpPr>
        <p:spPr>
          <a:xfrm>
            <a:off x="6446520" y="4864608"/>
            <a:ext cx="4983480" cy="777240"/>
          </a:xfrm>
          <a:prstGeom prst="rect">
            <a:avLst/>
          </a:prstGeom>
          <a:noFill/>
        </p:spPr>
        <p:txBody>
          <a:bodyPr wrap="square" lIns="0" tIns="0" rIns="0" bIns="0" rtlCol="0" anchor="ctr"/>
          <a:lstStyle/>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1.4  </a:t>
            </a: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ca làm việc không lệch (p=0,54); loại SP CÓ lệch (p&lt;0,001); 2,8% máy B ngoài dải A → mô hình cây dễ sai ở vùng lạ (ghi Hạn chế).</a:t>
            </a:r>
            <a:endParaRPr lang="en-US" sz="1250" dirty="0"/>
          </a:p>
        </p:txBody>
      </p:sp>
      <p:pic>
        <p:nvPicPr>
          <p:cNvPr id="12" name="Picture 11" descr="09_density_by_label.png"/>
          <p:cNvPicPr>
            <a:picLocks noChangeAspect="1"/>
          </p:cNvPicPr>
          <p:nvPr/>
        </p:nvPicPr>
        <p:blipFill>
          <a:blip r:embed="rId4"/>
          <a:stretch>
            <a:fillRect/>
          </a:stretch>
        </p:blipFill>
        <p:spPr>
          <a:xfrm>
            <a:off x="658368" y="3840480"/>
            <a:ext cx="5257800" cy="16293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Shape 1"/>
          <p:cNvSpPr/>
          <p:nvPr/>
        </p:nvSpPr>
        <p:spPr>
          <a:xfrm>
            <a:off x="731520" y="2011680"/>
            <a:ext cx="2468880" cy="2468880"/>
          </a:xfrm>
          <a:prstGeom prst="roundRect">
            <a:avLst>
              <a:gd name="adj" fmla="val 5185"/>
            </a:avLst>
          </a:prstGeom>
          <a:solidFill>
            <a:srgbClr val="F2A104"/>
          </a:solidFill>
        </p:spPr>
        <p:txBody>
          <a:bodyPr/>
          <a:p/>
        </p:txBody>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2</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Tiền xử lý, Đặc trưng &amp; Phát hiện shift</a:t>
            </a:r>
            <a:endParaRPr lang="en-US" sz="3400" dirty="0"/>
          </a:p>
        </p:txBody>
      </p:sp>
      <p:sp>
        <p:nvSpPr>
          <p:cNvPr id="7" name="Text 5"/>
          <p:cNvSpPr/>
          <p:nvPr/>
        </p:nvSpPr>
        <p:spPr>
          <a:xfrm>
            <a:off x="3611880" y="3528695"/>
            <a:ext cx="7680960" cy="63119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Chuẩn hoá chống rò rỉ, 4 đặc trưng vật lý, và đo shift bằng PSI/KS + drift classifier.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2.1 — Chuẩn bị dữ liệu (chống 'gian lận vô tình')</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Đưa số đo về cùng thang (chuẩn hoá) cho mô hình tuyến tính; mô hình cây thì không cần.</a:t>
            </a:r>
            <a:endParaRPr lang="en-US" sz="1550" dirty="0"/>
          </a:p>
          <a:p>
            <a:pPr marL="203200" indent="-203200">
              <a:spcAft>
                <a:spcPts val="900"/>
              </a:spcAft>
              <a:buSzPct val="100000"/>
              <a:buChar char="•"/>
            </a:pPr>
            <a:r>
              <a:rPr lang="en-US" sz="1550" b="1" dirty="0">
                <a:solidFill>
                  <a:srgbClr val="C4444E"/>
                </a:solidFill>
                <a:latin typeface="Calibri" panose="020F0502020204030204" pitchFamily="34" charset="0"/>
                <a:ea typeface="Calibri" panose="020F0502020204030204" pitchFamily="34" charset="-122"/>
                <a:cs typeface="Calibri" panose="020F0502020204030204" pitchFamily="34" charset="-120"/>
              </a:rPr>
              <a:t>QUY TẮC VÀNG chống rò rỉ: chỉ học cách chuẩn hoá TRÊN A, rồi áp cho cả A và B — không bao giờ 'nhìn lén'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Nhãn chữ → số: loại sản phẩm L&lt;M&lt;H giữ thứ tự (Ordinal); ca làm việc không thứ tự → tách riêng (One-Hot).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Xử lý lớp hiếm: PHẠT NẶNG khi bỏ sót máy hỏng (class_weight / scale_pos_weight ≈ 12,6).</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Toàn bộ gói trong Pipeline → chuẩn hoá &amp; mã hoá fit lại đúng trong từng fold CV.</a:t>
            </a:r>
            <a:endParaRPr lang="en-US" sz="1550" dirty="0"/>
          </a:p>
        </p:txBody>
      </p:sp>
      <p:sp>
        <p:nvSpPr>
          <p:cNvPr id="6" name="Shape 4"/>
          <p:cNvSpPr/>
          <p:nvPr/>
        </p:nvSpPr>
        <p:spPr>
          <a:xfrm>
            <a:off x="7543800" y="1783080"/>
            <a:ext cx="4069080" cy="3383280"/>
          </a:xfrm>
          <a:prstGeom prst="roundRect">
            <a:avLst>
              <a:gd name="adj" fmla="val 2432"/>
            </a:avLst>
          </a:prstGeom>
          <a:solidFill>
            <a:srgbClr val="16283A"/>
          </a:solidFill>
          <a:ln w="12700">
            <a:solidFill>
              <a:srgbClr val="D6DFE7"/>
            </a:solidFill>
            <a:prstDash val="solid"/>
          </a:ln>
        </p:spPr>
      </p:sp>
      <p:sp>
        <p:nvSpPr>
          <p:cNvPr id="7" name="Text 5"/>
          <p:cNvSpPr/>
          <p:nvPr/>
        </p:nvSpPr>
        <p:spPr>
          <a:xfrm>
            <a:off x="7708392" y="1892808"/>
            <a:ext cx="3739896" cy="3163824"/>
          </a:xfrm>
          <a:prstGeom prst="rect">
            <a:avLst/>
          </a:prstGeom>
          <a:noFill/>
        </p:spPr>
        <p:txBody>
          <a:bodyPr wrap="square" lIns="0" tIns="0" rIns="0" bIns="0" rtlCol="0" anchor="t"/>
          <a:lstStyle/>
          <a:p>
            <a:pPr marL="0" indent="0">
              <a:spcAft>
                <a:spcPts val="10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Vì sao chống rò rỉ quan trọng?</a:t>
            </a:r>
            <a:endParaRPr lang="en-US" sz="1400" dirty="0"/>
          </a:p>
          <a:p>
            <a:pPr marL="0" indent="0">
              <a:spcAft>
                <a:spcPts val="800"/>
              </a:spcAft>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Nếu 'nhìn lén' dữ liệu B khi chuẩn bị:</a:t>
            </a:r>
            <a:endParaRPr lang="en-US" sz="1400" dirty="0"/>
          </a:p>
          <a:p>
            <a:pPr marL="0" indent="0">
              <a:spcAft>
                <a:spcPts val="600"/>
              </a:spcAft>
              <a:buNone/>
            </a:pPr>
            <a:r>
              <a:rPr lang="en-US" sz="1300" dirty="0">
                <a:solidFill>
                  <a:srgbClr val="CFE0EC"/>
                </a:solidFill>
                <a:latin typeface="Calibri" panose="020F0502020204030204" pitchFamily="34" charset="0"/>
                <a:ea typeface="Calibri" panose="020F0502020204030204" pitchFamily="34" charset="-122"/>
                <a:cs typeface="Calibri" panose="020F0502020204030204" pitchFamily="34" charset="-120"/>
              </a:rPr>
              <a:t>→ điểm cao GIẢ trên giấy</a:t>
            </a:r>
            <a:endParaRPr lang="en-US" sz="1400" dirty="0"/>
          </a:p>
          <a:p>
            <a:pPr marL="0" indent="0">
              <a:spcAft>
                <a:spcPts val="1000"/>
              </a:spcAft>
              <a:buNone/>
            </a:pPr>
            <a:r>
              <a:rPr lang="en-US" sz="1300" dirty="0">
                <a:solidFill>
                  <a:srgbClr val="CFE0EC"/>
                </a:solidFill>
                <a:latin typeface="Calibri" panose="020F0502020204030204" pitchFamily="34" charset="0"/>
                <a:ea typeface="Calibri" panose="020F0502020204030204" pitchFamily="34" charset="-122"/>
                <a:cs typeface="Calibri" panose="020F0502020204030204" pitchFamily="34" charset="-120"/>
              </a:rPr>
              <a:t>→ triển khai thật thì SỤP</a:t>
            </a:r>
            <a:endParaRPr lang="en-US" sz="1400" dirty="0"/>
          </a:p>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Đây là điều đề nhấn mạnh nhất ở Phần 2.</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2.2 — Tạo 4 đặc trưng "còn cách ngưỡng hỏng bao xa"</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graphicFrame>
        <p:nvGraphicFramePr>
          <p:cNvPr id="13" name="Table 0"/>
          <p:cNvGraphicFramePr>
            <a:graphicFrameLocks noGrp="1"/>
          </p:cNvGraphicFramePr>
          <p:nvPr/>
        </p:nvGraphicFramePr>
        <p:xfrm>
          <a:off x="566928" y="1783080"/>
          <a:ext cx="11064240" cy="1828800"/>
        </p:xfrm>
        <a:graphic>
          <a:graphicData uri="http://schemas.openxmlformats.org/drawingml/2006/table">
            <a:tbl>
              <a:tblPr/>
              <a:tblGrid>
                <a:gridCol w="2148840"/>
                <a:gridCol w="3703320"/>
                <a:gridCol w="3017520"/>
                <a:gridCol w="2194560"/>
              </a:tblGrid>
              <a:tr h="457200">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Đặc trưng mới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Công thức</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Ý nghĩa (đơn giản)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Kiểu hỏng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nguy_tan_nhiet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max(8,6 − ΔT, 0) × max(1380 − tốc, 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ít chênh nhiệt VÀ quay chậm → nóng dồn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tản nhiệt kém (HDF)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lech_cong_suat</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max(2600 − P, 0) + max(P − 11500, 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công suất ra ngoài vùng an toàn (cao/thấp)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quá/thiếu CS (PWF)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bien_overstrain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mòn × mômen − ngưỡng(loại SP)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mòn × lực xoắn vượt ngưỡng từng loại SP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quá tải (OSF)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mon_twf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max(mòn − 244, 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 vượt ngưỡng thay dao</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mòn dao (TWF)</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Text 3"/>
          <p:cNvSpPr/>
          <p:nvPr/>
        </p:nvSpPr>
        <p:spPr>
          <a:xfrm>
            <a:off x="575945" y="4526280"/>
            <a:ext cx="11064240" cy="1010920"/>
          </a:xfrm>
          <a:prstGeom prst="rect">
            <a:avLst/>
          </a:prstGeom>
          <a:noFill/>
        </p:spPr>
        <p:txBody>
          <a:bodyPr wrap="square" lIns="0" tIns="0" rIns="0" bIns="0" rtlCol="0" anchor="t"/>
          <a:lstStyle/>
          <a:p>
            <a:pPr marL="203200" indent="-203200">
              <a:spcAft>
                <a:spcPts val="900"/>
              </a:spcAft>
              <a:buSzPct val="100000"/>
              <a:buChar char="•"/>
            </a:pPr>
            <a:r>
              <a:rPr lang="en-US" sz="1450" b="1" dirty="0">
                <a:solidFill>
                  <a:srgbClr val="2E8B57"/>
                </a:solidFill>
                <a:latin typeface="Calibri" panose="020F0502020204030204" pitchFamily="34" charset="0"/>
                <a:ea typeface="Calibri" panose="020F0502020204030204" pitchFamily="34" charset="-122"/>
                <a:cs typeface="Calibri" panose="020F0502020204030204" pitchFamily="34" charset="-120"/>
              </a:rPr>
              <a:t>Vì sao hay: các ngưỡng (8,6°/1380 v/ph/2600–11500W/mòn 244) là HẰNG SỐ CƠ CHẾ — khôi phục từ A, kiểm chứng bất biến trên B → 4 đặc trưng 'miễn nhiễm' với shift.</a:t>
            </a:r>
            <a:endParaRPr lang="en-US" sz="1450" dirty="0"/>
          </a:p>
          <a:p>
            <a:pPr marL="203200" indent="-203200">
              <a:spcAft>
                <a:spcPts val="900"/>
              </a:spcAft>
              <a:buSzPct val="100000"/>
              <a:buChar char="•"/>
            </a:pPr>
            <a:r>
              <a:rPr lang="en-US" sz="14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chứng bằng số (đề yêu cầu): chỉ thêm 4 đặc trưng, mô hình đơn giản mạnh gần GẤP BA — AUC-PR 0,22 → 0,65.</a:t>
            </a:r>
            <a:endParaRPr lang="en-US" sz="1450" dirty="0"/>
          </a:p>
          <a:p>
            <a:pPr marL="203200" indent="-203200">
              <a:spcAft>
                <a:spcPts val="900"/>
              </a:spcAft>
              <a:buSzPct val="100000"/>
              <a:buChar char="•"/>
            </a:pPr>
            <a:r>
              <a:rPr lang="en-US" sz="1450" dirty="0">
                <a:solidFill>
                  <a:srgbClr val="1B2733"/>
                </a:solidFill>
                <a:latin typeface="Calibri" panose="020F0502020204030204" pitchFamily="34" charset="0"/>
                <a:ea typeface="Calibri" panose="020F0502020204030204" pitchFamily="34" charset="-122"/>
                <a:cs typeface="Calibri" panose="020F0502020204030204" pitchFamily="34" charset="-120"/>
              </a:rPr>
              <a:t>Cả 4 tương quan với hỏng mạnh; nhất là mon_twf (0,43) — hơn cả độ mòn thô (0,20) → không phải thêm cho có.</a:t>
            </a:r>
            <a:endParaRPr lang="en-US" sz="1450" dirty="0"/>
          </a:p>
        </p:txBody>
      </p:sp>
      <p:sp>
        <p:nvSpPr>
          <p:cNvPr id="14" name="TextBox 13"/>
          <p:cNvSpPr txBox="1"/>
          <p:nvPr/>
        </p:nvSpPr>
        <p:spPr>
          <a:xfrm>
            <a:off x="576072" y="5669280"/>
            <a:ext cx="11064240" cy="502920"/>
          </a:xfrm>
          <a:prstGeom prst="rect">
            <a:avLst/>
          </a:prstGeom>
          <a:noFill/>
        </p:spPr>
        <p:txBody>
          <a:bodyPr wrap="square">
            <a:spAutoFit/>
          </a:bodyPr>
          <a:lstStyle/>
          <a:p>
            <a:r>
              <a:rPr sz="1150" i="1">
                <a:solidFill>
                  <a:srgbClr val="333333"/>
                </a:solidFill>
              </a:rPr>
              <a:t>Ghi chú: ΔT = nhiệt độ máy − nhiệt độ môi trường (K);  P (công suất cơ) = mômen × tốc độ × 2π/60 (W).  Hàm max(·,0) = "bản lề": chỉ bật khi máy đi vào vùng nguy.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3.1 — Đo mỗi số đo lệch mạnh cỡ nào (PSI/KS)</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graphicFrame>
        <p:nvGraphicFramePr>
          <p:cNvPr id="14" name="Table 0"/>
          <p:cNvGraphicFramePr>
            <a:graphicFrameLocks noGrp="1"/>
          </p:cNvGraphicFramePr>
          <p:nvPr/>
        </p:nvGraphicFramePr>
        <p:xfrm>
          <a:off x="566928" y="1783080"/>
          <a:ext cx="5440680" cy="2743200"/>
        </p:xfrm>
        <a:graphic>
          <a:graphicData uri="http://schemas.openxmlformats.org/drawingml/2006/table">
            <a:tbl>
              <a:tblPr/>
              <a:tblGrid>
                <a:gridCol w="2103120"/>
                <a:gridCol w="868680"/>
                <a:gridCol w="1051560"/>
                <a:gridCol w="1417320"/>
              </a:tblGrid>
              <a:tr h="457200">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Số đo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PSI</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KS-D</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Phân loại</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môi trường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1,08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0,43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mạnh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nhiệt độ máy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0,55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C4444E"/>
                          </a:solidFill>
                          <a:latin typeface="Calibri" panose="020F0502020204030204" pitchFamily="34" charset="0"/>
                          <a:ea typeface="Calibri" panose="020F0502020204030204" pitchFamily="34" charset="-122"/>
                          <a:cs typeface="Calibri" panose="020F0502020204030204" pitchFamily="34" charset="-120"/>
                        </a:rPr>
                        <a:t>0,31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C4444E"/>
                          </a:solidFill>
                          <a:latin typeface="Calibri" panose="020F0502020204030204" pitchFamily="34" charset="0"/>
                          <a:ea typeface="Calibri" panose="020F0502020204030204" pitchFamily="34" charset="-122"/>
                          <a:cs typeface="Calibri" panose="020F0502020204030204" pitchFamily="34" charset="-120"/>
                        </a:rPr>
                        <a:t>mạnh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tốc độ / lực xoắn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0,16 / 0,12</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0,17 / 0,14</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F2A104"/>
                          </a:solidFill>
                          <a:latin typeface="Calibri" panose="020F0502020204030204" pitchFamily="34" charset="0"/>
                          <a:ea typeface="Calibri" panose="020F0502020204030204" pitchFamily="34" charset="-122"/>
                          <a:cs typeface="Calibri" panose="020F0502020204030204" pitchFamily="34" charset="-120"/>
                        </a:rPr>
                        <a:t>nhẹ</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57200">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4 đặc trưng vật lý</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2E8B57"/>
                          </a:solidFill>
                          <a:latin typeface="Calibri" panose="020F0502020204030204" pitchFamily="34" charset="0"/>
                          <a:ea typeface="Calibri" panose="020F0502020204030204" pitchFamily="34" charset="-122"/>
                          <a:cs typeface="Calibri" panose="020F0502020204030204" pitchFamily="34" charset="-120"/>
                        </a:rPr>
                        <a:t>≤ 0,06</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không lệch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57200">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độ mòn dao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0,001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0,009</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E8B57"/>
                          </a:solidFill>
                          <a:latin typeface="Calibri" panose="020F0502020204030204" pitchFamily="34" charset="0"/>
                          <a:ea typeface="Calibri" panose="020F0502020204030204" pitchFamily="34" charset="-122"/>
                          <a:cs typeface="Calibri" panose="020F0502020204030204" pitchFamily="34" charset="-120"/>
                        </a:rPr>
                        <a:t>không lệch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bl>
          </a:graphicData>
        </a:graphic>
      </p:graphicFrame>
      <p:sp>
        <p:nvSpPr>
          <p:cNvPr id="6" name="Shape 3"/>
          <p:cNvSpPr/>
          <p:nvPr/>
        </p:nvSpPr>
        <p:spPr>
          <a:xfrm>
            <a:off x="6419088" y="1709928"/>
            <a:ext cx="5084064" cy="2734056"/>
          </a:xfrm>
          <a:prstGeom prst="roundRect">
            <a:avLst>
              <a:gd name="adj" fmla="val 2007"/>
            </a:avLst>
          </a:prstGeom>
          <a:solidFill>
            <a:srgbClr val="FFFFFF"/>
          </a:solidFill>
          <a:ln w="12700">
            <a:solidFill>
              <a:srgbClr val="D6DFE7"/>
            </a:solidFill>
            <a:prstDash val="solid"/>
          </a:ln>
        </p:spPr>
        <p:txBody>
          <a:bodyPr/>
          <a:p/>
        </p:txBody>
      </p:sp>
      <p:pic>
        <p:nvPicPr>
          <p:cNvPr id="7" name="Image 0" descr="C:/Users/LEGION/AppData/Local/Temp/claude/D--studies-Master-s-Degree-MSE-Session-1-ML-GroupProject-bai-tap-cuoi-khoa/b0b6e863-aebc-4618-98e8-e039d29f16c9/scratchpad/imgs/cell070.png"/>
          <p:cNvPicPr>
            <a:picLocks noChangeAspect="1"/>
          </p:cNvPicPr>
          <p:nvPr/>
        </p:nvPicPr>
        <p:blipFill>
          <a:blip r:embed="rId1"/>
          <a:stretch>
            <a:fillRect/>
          </a:stretch>
        </p:blipFill>
        <p:spPr>
          <a:xfrm>
            <a:off x="6492240" y="1783080"/>
            <a:ext cx="4937760" cy="2587752"/>
          </a:xfrm>
          <a:prstGeom prst="rect">
            <a:avLst/>
          </a:prstGeom>
        </p:spPr>
      </p:pic>
      <p:sp>
        <p:nvSpPr>
          <p:cNvPr id="8" name="Text 4"/>
          <p:cNvSpPr/>
          <p:nvPr/>
        </p:nvSpPr>
        <p:spPr>
          <a:xfrm>
            <a:off x="6492240" y="4389120"/>
            <a:ext cx="493776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PSI mỗi feature (đỏ = biến thô · xanh = biên vật lý)</a:t>
            </a:r>
            <a:endParaRPr lang="en-US" sz="1000" dirty="0"/>
          </a:p>
        </p:txBody>
      </p:sp>
      <p:sp>
        <p:nvSpPr>
          <p:cNvPr id="9" name="Shape 5"/>
          <p:cNvSpPr/>
          <p:nvPr/>
        </p:nvSpPr>
        <p:spPr>
          <a:xfrm>
            <a:off x="566928" y="4754880"/>
            <a:ext cx="11064240" cy="914400"/>
          </a:xfrm>
          <a:prstGeom prst="roundRect">
            <a:avLst>
              <a:gd name="adj" fmla="val 8000"/>
            </a:avLst>
          </a:prstGeom>
          <a:solidFill>
            <a:srgbClr val="FFF6E5"/>
          </a:solidFill>
          <a:ln w="12700">
            <a:solidFill>
              <a:srgbClr val="F2A104"/>
            </a:solidFill>
            <a:prstDash val="solid"/>
          </a:ln>
        </p:spPr>
        <p:txBody>
          <a:bodyPr/>
          <a:p/>
        </p:txBody>
      </p:sp>
      <p:sp>
        <p:nvSpPr>
          <p:cNvPr id="10" name="Text 6"/>
          <p:cNvSpPr/>
          <p:nvPr/>
        </p:nvSpPr>
        <p:spPr>
          <a:xfrm>
            <a:off x="777240" y="4791456"/>
            <a:ext cx="10607040" cy="841248"/>
          </a:xfrm>
          <a:prstGeom prst="rect">
            <a:avLst/>
          </a:prstGeom>
          <a:noFill/>
        </p:spPr>
        <p:txBody>
          <a:bodyPr wrap="square" lIns="0" tIns="0" rIns="0" bIns="0" rtlCol="0" anchor="ctr"/>
          <a:lstStyle/>
          <a:p>
            <a:pPr marL="0" indent="0">
              <a:buNone/>
            </a:pPr>
            <a:r>
              <a:rPr lang="en-US" sz="1250" b="1" dirty="0">
                <a:solidFill>
                  <a:srgbClr val="F2A104"/>
                </a:solidFill>
                <a:latin typeface="Calibri" panose="020F0502020204030204" pitchFamily="34" charset="0"/>
                <a:ea typeface="Calibri" panose="020F0502020204030204" pitchFamily="34" charset="-122"/>
                <a:cs typeface="Calibri" panose="020F0502020204030204" pitchFamily="34" charset="-120"/>
              </a:rPr>
              <a:t>⚠ Lưu ý trung thực (điểm cộng): </a:t>
            </a: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3 đặc trưng hinge phần lớn = 0 nên PSI bị 'bão hoà' về 0. Bằng chứng bất biến CHÍNH là drift-AUC 0,53 và bảng P(hỏng|cờ), không chỉ dựa PSI.</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3.2 — Shift nằm ở đâu? (mô hình đoán A/B)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2</a:t>
            </a:r>
            <a:endParaRPr lang="en-US" sz="1200" dirty="0"/>
          </a:p>
        </p:txBody>
      </p:sp>
      <p:sp>
        <p:nvSpPr>
          <p:cNvPr id="5" name="Text 3"/>
          <p:cNvSpPr/>
          <p:nvPr/>
        </p:nvSpPr>
        <p:spPr>
          <a:xfrm>
            <a:off x="566928" y="1783080"/>
            <a:ext cx="6675120" cy="329184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Mẹo: huấn luyện mô hình đoán 'máy này thuộc A hay B' chỉ từ số đo. Đoán càng dễ = càng khác nhau (0,5 = như tung đồng xu; 1,0 = khác hoàn toàn).</a:t>
            </a:r>
            <a:endParaRPr lang="en-US" sz="1550" dirty="0"/>
          </a:p>
          <a:p>
            <a:pPr marL="203200" indent="-203200">
              <a:spcAft>
                <a:spcPts val="900"/>
              </a:spcAft>
              <a:buSzPct val="100000"/>
              <a:buChar char="•"/>
            </a:pPr>
            <a:r>
              <a:rPr lang="en-US" sz="1550" dirty="0">
                <a:solidFill>
                  <a:srgbClr val="C4444E"/>
                </a:solidFill>
                <a:latin typeface="Calibri" panose="020F0502020204030204" pitchFamily="34" charset="0"/>
                <a:ea typeface="Calibri" panose="020F0502020204030204" pitchFamily="34" charset="-122"/>
                <a:cs typeface="Calibri" panose="020F0502020204030204" pitchFamily="34" charset="-120"/>
              </a:rPr>
              <a:t>Dùng TẤT CẢ số đo → AUC 0,82 (lệch mạnh). Thủ phạm: 2 biến nhiệt độ.</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Chỉ 4 đặc trưng vật lý → AUC 0,53 ≈ tung đồng xu → gần như KHÔNG phân biệt được A/B.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Thêm bằng chứng: 'khi máy vượt ngưỡng nguy hiểm thì tỉ lệ hỏng' GIỐNG nhau A↔B (0,84 vs 0,82).</a:t>
            </a:r>
            <a:endParaRPr lang="en-US" sz="1550" dirty="0"/>
          </a:p>
        </p:txBody>
      </p:sp>
      <p:sp>
        <p:nvSpPr>
          <p:cNvPr id="6" name="Shape 4"/>
          <p:cNvSpPr/>
          <p:nvPr/>
        </p:nvSpPr>
        <p:spPr>
          <a:xfrm>
            <a:off x="7360920" y="1783080"/>
            <a:ext cx="4251960" cy="1828800"/>
          </a:xfrm>
          <a:prstGeom prst="roundRect">
            <a:avLst>
              <a:gd name="adj" fmla="val 5000"/>
            </a:avLst>
          </a:prstGeom>
          <a:solidFill>
            <a:srgbClr val="C4444E"/>
          </a:solidFill>
        </p:spPr>
        <p:txBody>
          <a:bodyPr/>
          <a:p/>
        </p:txBody>
      </p:sp>
      <p:sp>
        <p:nvSpPr>
          <p:cNvPr id="7" name="Text 5"/>
          <p:cNvSpPr/>
          <p:nvPr/>
        </p:nvSpPr>
        <p:spPr>
          <a:xfrm>
            <a:off x="7360920" y="1920240"/>
            <a:ext cx="4251960" cy="15544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0,82
</a:t>
            </a:r>
            <a:r>
              <a:rPr lang="en-US" sz="1200" dirty="0">
                <a:solidFill>
                  <a:srgbClr val="FCE7E9"/>
                </a:solidFill>
                <a:latin typeface="Calibri" panose="020F0502020204030204" pitchFamily="34" charset="0"/>
                <a:ea typeface="Calibri" panose="020F0502020204030204" pitchFamily="34" charset="-122"/>
                <a:cs typeface="Calibri" panose="020F0502020204030204" pitchFamily="34" charset="-120"/>
              </a:rPr>
              <a:t>AUC khi dùng số đo THÔ</a:t>
            </a:r>
            <a:endParaRPr lang="en-US" sz="3400" dirty="0"/>
          </a:p>
          <a:p>
            <a:pPr marL="0" indent="0" algn="ctr">
              <a:buNone/>
            </a:pPr>
            <a:r>
              <a:rPr lang="en-US" sz="1200" dirty="0">
                <a:solidFill>
                  <a:srgbClr val="FCE7E9"/>
                </a:solidFill>
                <a:latin typeface="Calibri" panose="020F0502020204030204" pitchFamily="34" charset="0"/>
                <a:ea typeface="Calibri" panose="020F0502020204030204" pitchFamily="34" charset="-122"/>
                <a:cs typeface="Calibri" panose="020F0502020204030204" pitchFamily="34" charset="-120"/>
              </a:rPr>
              <a:t>(lệch mạnh)</a:t>
            </a:r>
            <a:endParaRPr lang="en-US" sz="3400" dirty="0"/>
          </a:p>
        </p:txBody>
      </p:sp>
      <p:sp>
        <p:nvSpPr>
          <p:cNvPr id="8" name="Shape 6"/>
          <p:cNvSpPr/>
          <p:nvPr/>
        </p:nvSpPr>
        <p:spPr>
          <a:xfrm>
            <a:off x="7360920" y="3794760"/>
            <a:ext cx="4251960" cy="1828800"/>
          </a:xfrm>
          <a:prstGeom prst="roundRect">
            <a:avLst>
              <a:gd name="adj" fmla="val 5000"/>
            </a:avLst>
          </a:prstGeom>
          <a:solidFill>
            <a:srgbClr val="2E8B57"/>
          </a:solidFill>
        </p:spPr>
        <p:txBody>
          <a:bodyPr/>
          <a:p/>
        </p:txBody>
      </p:sp>
      <p:sp>
        <p:nvSpPr>
          <p:cNvPr id="9" name="Text 7"/>
          <p:cNvSpPr/>
          <p:nvPr/>
        </p:nvSpPr>
        <p:spPr>
          <a:xfrm>
            <a:off x="7360920" y="3931920"/>
            <a:ext cx="4251960" cy="1554480"/>
          </a:xfrm>
          <a:prstGeom prst="rect">
            <a:avLst/>
          </a:prstGeom>
          <a:noFill/>
        </p:spPr>
        <p:txBody>
          <a:bodyPr wrap="square" lIns="0" tIns="0" rIns="0" bIns="0" rtlCol="0" anchor="ctr"/>
          <a:lstStyle/>
          <a:p>
            <a:pPr marL="0" indent="0" algn="ctr">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0,53
</a:t>
            </a:r>
            <a:r>
              <a:rPr lang="en-US" sz="1200" dirty="0">
                <a:solidFill>
                  <a:srgbClr val="E4F1EA"/>
                </a:solidFill>
                <a:latin typeface="Calibri" panose="020F0502020204030204" pitchFamily="34" charset="0"/>
                <a:ea typeface="Calibri" panose="020F0502020204030204" pitchFamily="34" charset="-122"/>
                <a:cs typeface="Calibri" panose="020F0502020204030204" pitchFamily="34" charset="-120"/>
              </a:rPr>
              <a:t>AUC khi chỉ dùng 4 đặc trưng</a:t>
            </a:r>
            <a:endParaRPr lang="en-US" sz="3400" dirty="0"/>
          </a:p>
          <a:p>
            <a:pPr marL="0" indent="0" algn="ctr">
              <a:buNone/>
            </a:pPr>
            <a:r>
              <a:rPr lang="en-US" sz="1200" dirty="0">
                <a:solidFill>
                  <a:srgbClr val="E4F1EA"/>
                </a:solidFill>
                <a:latin typeface="Calibri" panose="020F0502020204030204" pitchFamily="34" charset="0"/>
                <a:ea typeface="Calibri" panose="020F0502020204030204" pitchFamily="34" charset="-122"/>
                <a:cs typeface="Calibri" panose="020F0502020204030204" pitchFamily="34" charset="-120"/>
              </a:rPr>
              <a:t>vật lý (≈ không lệch)</a:t>
            </a:r>
            <a:endParaRPr lang="en-US" sz="3400" dirty="0"/>
          </a:p>
        </p:txBody>
      </p:sp>
      <p:pic>
        <p:nvPicPr>
          <p:cNvPr id="10" name="Picture 9" descr="10_drift_importance.png"/>
          <p:cNvPicPr>
            <a:picLocks noChangeAspect="1"/>
          </p:cNvPicPr>
          <p:nvPr/>
        </p:nvPicPr>
        <p:blipFill>
          <a:blip r:embed="rId3"/>
          <a:stretch>
            <a:fillRect/>
          </a:stretch>
        </p:blipFill>
        <p:spPr>
          <a:xfrm>
            <a:off x="566928" y="5138928"/>
            <a:ext cx="6675120" cy="371438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C4444E"/>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Xử lý shift &amp; Xây mô hình</a:t>
            </a:r>
            <a:endParaRPr lang="en-US" sz="3400" dirty="0"/>
          </a:p>
        </p:txBody>
      </p:sp>
      <p:sp>
        <p:nvSpPr>
          <p:cNvPr id="7" name="Text 5"/>
          <p:cNvSpPr/>
          <p:nvPr/>
        </p:nvSpPr>
        <p:spPr>
          <a:xfrm>
            <a:off x="3611880" y="3429000"/>
            <a:ext cx="7680960" cy="822960"/>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Reweighting, hiệu chỉnh ngưỡng bằng IWV, và so sánh 4 mô hình + ensemble.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3.3 — Xử lý lệch bằng TRỌNG SỐ (Reweighting)</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7055" y="1783080"/>
            <a:ext cx="462153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Ý tưởng (Importance Reweighting): máy A nào TRÔNG GIỐNG máy B thì cho 'điểm chú ý' cao hơn khi học → mô hình học nghiêng về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Điểm chú ý = mức 'giống B' / mức 'giống A' (lấy từ drift classifier).</a:t>
            </a:r>
            <a:endParaRPr lang="en-US" sz="1550" dirty="0"/>
          </a:p>
          <a:p>
            <a:pPr marL="203200" indent="-203200">
              <a:spcAft>
                <a:spcPts val="900"/>
              </a:spcAft>
              <a:buSzPct val="100000"/>
              <a:buChar char="•"/>
            </a:pPr>
            <a:r>
              <a:rPr lang="en-US" sz="1550" dirty="0">
                <a:solidFill>
                  <a:srgbClr val="F2A104"/>
                </a:solidFill>
                <a:latin typeface="Calibri" panose="020F0502020204030204" pitchFamily="34" charset="0"/>
                <a:ea typeface="Calibri" panose="020F0502020204030204" pitchFamily="34" charset="-122"/>
                <a:cs typeface="Calibri" panose="020F0502020204030204" pitchFamily="34" charset="-120"/>
              </a:rPr>
              <a:t>Phải CHẶN điểm quá lớn (giới hạn ≤ 10) để vài máy lạ không chi phối toàn bộ.</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Kết quả trước → sau: gần như đứng yên (F1 giữ 0,783; AUC-PR 0,675 → 0,671).</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Đứng yên là TIN TỐT: 4 đặc trưng vật lý đã lo gần hết việc chống lệch; kỹ thuật này chỉ vá phần nhỏ.</a:t>
            </a:r>
            <a:endParaRPr lang="en-US" sz="1550" dirty="0"/>
          </a:p>
        </p:txBody>
      </p:sp>
      <p:pic>
        <p:nvPicPr>
          <p:cNvPr id="7" name="Image 0" descr="C:/Users/LEGION/AppData/Local/Temp/claude/D--studies-Master-s-Degree-MSE-Session-1-ML-GroupProject-bai-tap-cuoi-khoa/b0b6e863-aebc-4618-98e8-e039d29f16c9/scratchpad/imgs/cell082.png"/>
          <p:cNvPicPr>
            <a:picLocks noChangeAspect="1"/>
          </p:cNvPicPr>
          <p:nvPr/>
        </p:nvPicPr>
        <p:blipFill>
          <a:blip r:embed="rId1"/>
          <a:stretch>
            <a:fillRect/>
          </a:stretch>
        </p:blipFill>
        <p:spPr>
          <a:xfrm>
            <a:off x="5374005" y="1107440"/>
            <a:ext cx="6238875" cy="1979459"/>
          </a:xfrm>
          <a:prstGeom prst="rect">
            <a:avLst/>
          </a:prstGeom>
        </p:spPr>
      </p:pic>
      <p:sp>
        <p:nvSpPr>
          <p:cNvPr id="8" name="Text 5"/>
          <p:cNvSpPr/>
          <p:nvPr/>
        </p:nvSpPr>
        <p:spPr>
          <a:xfrm>
            <a:off x="6074410" y="4417695"/>
            <a:ext cx="4148455" cy="40259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Trọng số density-ratio: trước (nổ tới ~77) → sau clip[0,2;10]</a:t>
            </a:r>
            <a:endParaRPr lang="en-US" sz="1000" dirty="0"/>
          </a:p>
        </p:txBody>
      </p:sp>
      <p:sp>
        <p:nvSpPr>
          <p:cNvPr id="9" name="Shape 6"/>
          <p:cNvSpPr/>
          <p:nvPr/>
        </p:nvSpPr>
        <p:spPr>
          <a:xfrm>
            <a:off x="6049010" y="4958715"/>
            <a:ext cx="4251960" cy="1529715"/>
          </a:xfrm>
          <a:prstGeom prst="roundRect">
            <a:avLst>
              <a:gd name="adj" fmla="val 3830"/>
            </a:avLst>
          </a:prstGeom>
          <a:solidFill>
            <a:srgbClr val="F3F6F9"/>
          </a:solidFill>
          <a:ln w="12700">
            <a:solidFill>
              <a:srgbClr val="D6DFE7"/>
            </a:solidFill>
            <a:prstDash val="solid"/>
          </a:ln>
        </p:spPr>
        <p:txBody>
          <a:bodyPr/>
          <a:p/>
        </p:txBody>
      </p:sp>
      <p:sp>
        <p:nvSpPr>
          <p:cNvPr id="10" name="Text 7"/>
          <p:cNvSpPr/>
          <p:nvPr/>
        </p:nvSpPr>
        <p:spPr>
          <a:xfrm>
            <a:off x="6469380" y="5178425"/>
            <a:ext cx="3923030" cy="1361440"/>
          </a:xfrm>
          <a:prstGeom prst="rect">
            <a:avLst/>
          </a:prstGeom>
          <a:noFill/>
        </p:spPr>
        <p:txBody>
          <a:bodyPr wrap="square" lIns="0" tIns="0" rIns="0" bIns="0" rtlCol="0" anchor="t"/>
          <a:lstStyle/>
          <a:p>
            <a:pPr marL="0" indent="0">
              <a:spcAft>
                <a:spcPts val="1000"/>
              </a:spcAft>
              <a:buNone/>
            </a:pP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Trước → Sau reweighting</a:t>
            </a:r>
            <a:endParaRPr lang="en-US" sz="1400" dirty="0"/>
          </a:p>
          <a:p>
            <a:pPr marL="0" indent="0">
              <a:spcAft>
                <a:spcPts val="700"/>
              </a:spcAft>
              <a:buNone/>
            </a:pPr>
            <a:r>
              <a:rPr lang="en-US" sz="1500" b="1" dirty="0">
                <a:solidFill>
                  <a:srgbClr val="1B2733"/>
                </a:solidFill>
                <a:latin typeface="Calibri" panose="020F0502020204030204" pitchFamily="34" charset="0"/>
                <a:ea typeface="Calibri" panose="020F0502020204030204" pitchFamily="34" charset="-122"/>
                <a:cs typeface="Calibri" panose="020F0502020204030204" pitchFamily="34" charset="-120"/>
              </a:rPr>
              <a:t>AUC-PR:  0,675  →  0,671</a:t>
            </a:r>
            <a:endParaRPr lang="en-US" sz="1400" dirty="0"/>
          </a:p>
          <a:p>
            <a:pPr marL="0" indent="0">
              <a:spcAft>
                <a:spcPts val="1000"/>
              </a:spcAft>
              <a:buNone/>
            </a:pPr>
            <a:r>
              <a:rPr lang="en-US" sz="1500" dirty="0">
                <a:solidFill>
                  <a:srgbClr val="1B2733"/>
                </a:solidFill>
                <a:latin typeface="Calibri" panose="020F0502020204030204" pitchFamily="34" charset="0"/>
                <a:ea typeface="Calibri" panose="020F0502020204030204" pitchFamily="34" charset="-122"/>
                <a:cs typeface="Calibri" panose="020F0502020204030204" pitchFamily="34" charset="-120"/>
              </a:rPr>
              <a:t>F1:          0,783  →  0,783</a:t>
            </a:r>
            <a:endParaRPr lang="en-US" sz="1400" dirty="0"/>
          </a:p>
          <a:p>
            <a:pPr marL="0" indent="0">
              <a:buNone/>
            </a:pPr>
            <a:r>
              <a:rPr lang="en-US" sz="1200" i="1" dirty="0">
                <a:solidFill>
                  <a:srgbClr val="1F8A8C"/>
                </a:solidFill>
                <a:latin typeface="Calibri" panose="020F0502020204030204" pitchFamily="34" charset="0"/>
                <a:ea typeface="Calibri" panose="020F0502020204030204" pitchFamily="34" charset="-122"/>
                <a:cs typeface="Calibri" panose="020F0502020204030204" pitchFamily="34" charset="-120"/>
              </a:rPr>
              <a:t>"Làm đúng đặc trưng thì đỡ phải bù lệch bằng thống kê."</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3.4 — Chọn NGƯỠNG trung thực (IWV)</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7055" y="1783080"/>
            <a:ext cx="4782185" cy="374904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Vấn đề: bị chấm trên B nhưng không được xem đáp án B → chọn mô hình/ngưỡng bằng gì?</a:t>
            </a:r>
            <a:endParaRPr lang="en-US" sz="1550" dirty="0"/>
          </a:p>
          <a:p>
            <a:pPr marL="203200" indent="-203200">
              <a:spcAft>
                <a:spcPts val="900"/>
              </a:spcAft>
              <a:buSzPct val="100000"/>
              <a:buChar char="•"/>
            </a:pPr>
            <a:r>
              <a:rPr lang="en-US" sz="1550" b="1" dirty="0">
                <a:solidFill>
                  <a:srgbClr val="1F8A8C"/>
                </a:solidFill>
                <a:latin typeface="Calibri" panose="020F0502020204030204" pitchFamily="34" charset="0"/>
                <a:ea typeface="Calibri" panose="020F0502020204030204" pitchFamily="34" charset="-122"/>
                <a:cs typeface="Calibri" panose="020F0502020204030204" pitchFamily="34" charset="-120"/>
              </a:rPr>
              <a:t>IWV (Importance-Weighted Validation): dùng dữ liệu A nhưng đánh trọng số cho 'giống B' → tạo bộ chấm thử GIẢ LẬP B mà không cần nhãn B.</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Nhờ đó thử-sai bao nhiêu cũng KHÔNG gian lận; nhãn B chỉ dùng 1 lần cuối để báo cáo.</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Chọn 'mức báo hỏng': ngưỡng mặc định 0,5 không tối ưu cho lớp hiếm → chỉnh để F1 cao nhất.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Kiểm định: đường 'chấm thử giả lập B' bám sát đường 'kết quả thật trên B' → harness đáng tin.</a:t>
            </a:r>
            <a:endParaRPr lang="en-US" sz="1550" dirty="0"/>
          </a:p>
        </p:txBody>
      </p:sp>
      <p:sp>
        <p:nvSpPr>
          <p:cNvPr id="6" name="Shape 4"/>
          <p:cNvSpPr/>
          <p:nvPr/>
        </p:nvSpPr>
        <p:spPr>
          <a:xfrm>
            <a:off x="7287768" y="1709928"/>
            <a:ext cx="4398264" cy="2514600"/>
          </a:xfrm>
          <a:prstGeom prst="roundRect">
            <a:avLst>
              <a:gd name="adj" fmla="val 2182"/>
            </a:avLst>
          </a:prstGeom>
          <a:solidFill>
            <a:srgbClr val="FFFFFF"/>
          </a:solidFill>
          <a:ln w="12700">
            <a:solidFill>
              <a:srgbClr val="D6DFE7"/>
            </a:solidFill>
            <a:prstDash val="solid"/>
          </a:ln>
        </p:spPr>
        <p:txBody>
          <a:bodyPr/>
          <a:p/>
        </p:txBody>
      </p:sp>
      <p:pic>
        <p:nvPicPr>
          <p:cNvPr id="7" name="Image 0" descr="C:/Users/LEGION/AppData/Local/Temp/claude/D--studies-Master-s-Degree-MSE-Session-1-ML-GroupProject-bai-tap-cuoi-khoa/b0b6e863-aebc-4618-98e8-e039d29f16c9/scratchpad/imgs/cell090.png"/>
          <p:cNvPicPr>
            <a:picLocks noChangeAspect="1"/>
          </p:cNvPicPr>
          <p:nvPr/>
        </p:nvPicPr>
        <p:blipFill>
          <a:blip r:embed="rId1"/>
          <a:stretch>
            <a:fillRect/>
          </a:stretch>
        </p:blipFill>
        <p:spPr>
          <a:xfrm>
            <a:off x="6095365" y="1078230"/>
            <a:ext cx="5517515" cy="3070230"/>
          </a:xfrm>
          <a:prstGeom prst="rect">
            <a:avLst/>
          </a:prstGeom>
        </p:spPr>
      </p:pic>
      <p:sp>
        <p:nvSpPr>
          <p:cNvPr id="8" name="Text 5"/>
          <p:cNvSpPr/>
          <p:nvPr/>
        </p:nvSpPr>
        <p:spPr>
          <a:xfrm>
            <a:off x="6122670" y="4514850"/>
            <a:ext cx="5517515" cy="393065"/>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F1 theo ngưỡng: IWV (xanh lá) bám đường B thật (xanh dương)</a:t>
            </a:r>
            <a:endParaRPr lang="en-US" sz="1000" dirty="0"/>
          </a:p>
        </p:txBody>
      </p:sp>
      <p:grpSp>
        <p:nvGrpSpPr>
          <p:cNvPr id="11" name="Group 10"/>
          <p:cNvGrpSpPr/>
          <p:nvPr/>
        </p:nvGrpSpPr>
        <p:grpSpPr>
          <a:xfrm>
            <a:off x="6685915" y="5017770"/>
            <a:ext cx="4763770" cy="1579880"/>
            <a:chOff x="11592" y="6984"/>
            <a:chExt cx="6696" cy="1872"/>
          </a:xfrm>
        </p:grpSpPr>
        <p:sp>
          <p:nvSpPr>
            <p:cNvPr id="9" name="Shape 6"/>
            <p:cNvSpPr/>
            <p:nvPr/>
          </p:nvSpPr>
          <p:spPr>
            <a:xfrm>
              <a:off x="11592" y="6984"/>
              <a:ext cx="6696" cy="1872"/>
            </a:xfrm>
            <a:prstGeom prst="roundRect">
              <a:avLst>
                <a:gd name="adj" fmla="val 6154"/>
              </a:avLst>
            </a:prstGeom>
            <a:solidFill>
              <a:srgbClr val="16283A"/>
            </a:solidFill>
          </p:spPr>
        </p:sp>
        <p:sp>
          <p:nvSpPr>
            <p:cNvPr id="10" name="Text 7"/>
            <p:cNvSpPr/>
            <p:nvPr/>
          </p:nvSpPr>
          <p:spPr>
            <a:xfrm>
              <a:off x="11880" y="7056"/>
              <a:ext cx="6120" cy="1728"/>
            </a:xfrm>
            <a:prstGeom prst="rect">
              <a:avLst/>
            </a:prstGeom>
            <a:noFill/>
          </p:spPr>
          <p:txBody>
            <a:bodyPr wrap="square" lIns="0" tIns="0" rIns="0" bIns="0" rtlCol="0" anchor="ctr"/>
            <a:lstStyle/>
            <a:p>
              <a:pPr marL="0" indent="0">
                <a:buNone/>
              </a:pPr>
              <a:r>
                <a:rPr lang="en-US" sz="1250" b="1" dirty="0">
                  <a:solidFill>
                    <a:srgbClr val="F2A104"/>
                  </a:solidFill>
                  <a:latin typeface="Calibri" panose="020F0502020204030204" pitchFamily="34" charset="0"/>
                  <a:ea typeface="Calibri" panose="020F0502020204030204" pitchFamily="34" charset="-122"/>
                  <a:cs typeface="Calibri" panose="020F0502020204030204" pitchFamily="34" charset="-120"/>
                </a:rPr>
                <a:t>Chìa khoá đạo đức: </a:t>
              </a:r>
              <a:r>
                <a:rPr lang="en-US" sz="1200" dirty="0">
                  <a:solidFill>
                    <a:srgbClr val="CFE0EC"/>
                  </a:solidFill>
                  <a:latin typeface="Calibri" panose="020F0502020204030204" pitchFamily="34" charset="0"/>
                  <a:ea typeface="Calibri" panose="020F0502020204030204" pitchFamily="34" charset="-122"/>
                  <a:cs typeface="Calibri" panose="020F0502020204030204" pitchFamily="34" charset="-120"/>
                </a:rPr>
                <a:t>chọn model &amp; ngưỡng 'như ở B' mà KHÔNG nhìn nhãn B. ESS ≈ 25,5% → coi các bản đầu bảng là ngang nhau.</a:t>
              </a:r>
              <a:endParaRPr lang="en-US" sz="125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4.1 — Thử 4 mô hình, chấm công bằng</a:t>
            </a:r>
            <a:endParaRPr lang="en-US" sz="2700" dirty="0"/>
          </a:p>
        </p:txBody>
      </p:sp>
      <p:sp>
        <p:nvSpPr>
          <p:cNvPr id="5" name="Text 3"/>
          <p:cNvSpPr/>
          <p:nvPr/>
        </p:nvSpPr>
        <p:spPr>
          <a:xfrm>
            <a:off x="566928" y="1783080"/>
            <a:ext cx="11064240" cy="384048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4 mô hình thuộc 3 trường phái (để lát gộp lại cho đa dạng):</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Logistic Regression — đơn giản, làm mốc.</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Random Forest &amp; ExtraTrees — 'nhiều cây bỏ phiếu', ổn định (variance thấp).</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 XGBoost — 'nhiều cây sửa lỗi nối tiếp', mạnh nhưng dễ học thuộc lòng A.</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Dò siêu tham số TỰ ĐỘNG (RandomizedSearchCV) + chia dữ liệu giữ đúng tỉ lệ hỏng (StratifiedKFold 5).</a:t>
            </a:r>
            <a:endParaRPr lang="en-US" sz="1550" dirty="0"/>
          </a:p>
          <a:p>
            <a:pPr marL="203200" indent="-203200">
              <a:spcAft>
                <a:spcPts val="900"/>
              </a:spcAft>
              <a:buSzPct val="100000"/>
              <a:buChar char="•"/>
            </a:pPr>
            <a:r>
              <a:rPr lang="en-US" sz="1550" b="1" dirty="0">
                <a:solidFill>
                  <a:srgbClr val="1F8A8C"/>
                </a:solidFill>
                <a:latin typeface="Calibri" panose="020F0502020204030204" pitchFamily="34" charset="0"/>
                <a:ea typeface="Calibri" panose="020F0502020204030204" pitchFamily="34" charset="-122"/>
                <a:cs typeface="Calibri" panose="020F0502020204030204" pitchFamily="34" charset="-120"/>
              </a:rPr>
              <a:t>Chấm bằng F1 / AUC-PR / PR-curve (KHÔNG accuracy). Chọn model bằng IWV — B chỉ chấm 1 lần cuối.</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4.2 — Bảng so sánh (điểm trên nhà máy B)</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graphicFrame>
        <p:nvGraphicFramePr>
          <p:cNvPr id="20" name="Table 0"/>
          <p:cNvGraphicFramePr>
            <a:graphicFrameLocks noGrp="1"/>
          </p:cNvGraphicFramePr>
          <p:nvPr/>
        </p:nvGraphicFramePr>
        <p:xfrm>
          <a:off x="566928" y="1691640"/>
          <a:ext cx="11064240" cy="3291840"/>
        </p:xfrm>
        <a:graphic>
          <a:graphicData uri="http://schemas.openxmlformats.org/drawingml/2006/table">
            <a:tbl>
              <a:tblPr/>
              <a:tblGrid>
                <a:gridCol w="3566160"/>
                <a:gridCol w="1499616"/>
                <a:gridCol w="1499616"/>
                <a:gridCol w="1499616"/>
                <a:gridCol w="1499616"/>
                <a:gridCol w="1499616"/>
              </a:tblGrid>
              <a:tr h="365760">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Phiên bản</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AUC-ROC</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AUC-PR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F1</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Báo đúng P</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Bắt được R</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Ban đầu (LogReg thô)</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0,732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0,231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0,14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+ 4 đặc trưng vật lý</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0,645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0,716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Random Forest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0,783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XGBoost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0,649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0,767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ExtraTrees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0,869</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0,666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0,738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reweighting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0,783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365760">
                <a:tc>
                  <a:txBody>
                    <a:bodyPr/>
                    <a:lstStyle/>
                    <a:p>
                      <a:pPr marL="0" indent="0" algn="l">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 chỉnh ngưỡng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0,870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0,671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0,783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0,82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365760">
                <a:tc>
                  <a:txBody>
                    <a:bodyPr/>
                    <a:lstStyle/>
                    <a:p>
                      <a:pPr marL="0" indent="0" algn="l">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GỘP (bản chốt v6)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0,872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0,666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2E8B57"/>
                          </a:solidFill>
                          <a:latin typeface="Calibri" panose="020F0502020204030204" pitchFamily="34" charset="0"/>
                          <a:ea typeface="Calibri" panose="020F0502020204030204" pitchFamily="34" charset="-122"/>
                          <a:cs typeface="Calibri" panose="020F0502020204030204" pitchFamily="34" charset="-120"/>
                        </a:rPr>
                        <a:t>0,783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0,82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00" b="1" dirty="0">
                          <a:solidFill>
                            <a:srgbClr val="1B2733"/>
                          </a:solidFill>
                          <a:latin typeface="Calibri" panose="020F0502020204030204" pitchFamily="34" charset="0"/>
                          <a:ea typeface="Calibri" panose="020F0502020204030204" pitchFamily="34" charset="-122"/>
                          <a:cs typeface="Calibri" panose="020F0502020204030204" pitchFamily="34" charset="-120"/>
                        </a:rPr>
                        <a:t>0,75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Shape 3"/>
          <p:cNvSpPr/>
          <p:nvPr/>
        </p:nvSpPr>
        <p:spPr>
          <a:xfrm>
            <a:off x="566928" y="5806440"/>
            <a:ext cx="11055096" cy="566928"/>
          </a:xfrm>
          <a:prstGeom prst="roundRect">
            <a:avLst>
              <a:gd name="adj" fmla="val 12903"/>
            </a:avLst>
          </a:prstGeom>
          <a:solidFill>
            <a:srgbClr val="E9EFF4"/>
          </a:solidFill>
          <a:ln w="12700">
            <a:solidFill>
              <a:srgbClr val="D6DFE7"/>
            </a:solidFill>
            <a:prstDash val="solid"/>
          </a:ln>
        </p:spPr>
        <p:txBody>
          <a:bodyPr/>
          <a:p/>
        </p:txBody>
      </p:sp>
      <p:sp>
        <p:nvSpPr>
          <p:cNvPr id="7" name="Text 4"/>
          <p:cNvSpPr/>
          <p:nvPr/>
        </p:nvSpPr>
        <p:spPr>
          <a:xfrm>
            <a:off x="777240" y="5806440"/>
            <a:ext cx="10634472" cy="566928"/>
          </a:xfrm>
          <a:prstGeom prst="rect">
            <a:avLst/>
          </a:prstGeom>
          <a:noFill/>
        </p:spPr>
        <p:txBody>
          <a:bodyPr wrap="square" lIns="0" tIns="0" rIns="0" bIns="0" rtlCol="0" anchor="ctr"/>
          <a:lstStyle/>
          <a:p>
            <a:pPr marL="0" indent="0">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a:t>
            </a:r>
            <a:r>
              <a:rPr lang="en-US" sz="1400" b="1" dirty="0">
                <a:solidFill>
                  <a:srgbClr val="16283A"/>
                </a:solidFill>
                <a:latin typeface="Calibri" panose="020F0502020204030204" pitchFamily="34" charset="0"/>
                <a:ea typeface="Calibri" panose="020F0502020204030204" pitchFamily="34" charset="-122"/>
                <a:cs typeface="Calibri" panose="020F0502020204030204" pitchFamily="34" charset="-120"/>
              </a:rPr>
              <a:t>F1 là con số so sánh chính (theo đề). Từ 0,231 → 0,783 = gấp 3,4 lần. 'Báo đúng' = Precision; 'Bắt được' = Recall.</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4.3 — Gộp mô hình cho chắc ăn (ensemble)</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3</a:t>
            </a:r>
            <a:endParaRPr lang="en-US" sz="12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Ý tưởng: mỗi mô hình sai ở chỗ khác nhau → gộp lại thì bù trừ, kết quả ổn định hơn.</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1 — Bỏ phiếu (Voting): trung bình có trọng số RF 25% + ExtraTrees 25% + XGBoost 50% (trọng số dò bằng IWV).</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2 — Trộn (Stacking): 1 mô hình nhỏ học cách trộn kết quả 4 mô hình con.</a:t>
            </a:r>
            <a:endParaRPr lang="en-US" sz="1550" dirty="0"/>
          </a:p>
          <a:p>
            <a:pPr marL="203200" indent="-203200">
              <a:spcAft>
                <a:spcPts val="900"/>
              </a:spcAft>
              <a:buSzPct val="100000"/>
              <a:buChar char="•"/>
            </a:pPr>
            <a:r>
              <a:rPr lang="en-US" sz="1550" b="1" dirty="0">
                <a:solidFill>
                  <a:srgbClr val="2E8B57"/>
                </a:solidFill>
                <a:latin typeface="Calibri" panose="020F0502020204030204" pitchFamily="34" charset="0"/>
                <a:ea typeface="Calibri" panose="020F0502020204030204" pitchFamily="34" charset="-122"/>
                <a:cs typeface="Calibri" panose="020F0502020204030204" pitchFamily="34" charset="-120"/>
              </a:rPr>
              <a:t>Chọn cách tốt hơn bằng IWV → chốt 'Bỏ phiếu' (đơn giản, khó sai, khó overfit shift).</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Giữ cả 2 để 'không đặt hết cược một cửa'; IWV chấm hai bản ngang điểm → chọn bản đơn giản hơn.</a:t>
            </a:r>
            <a:endParaRPr lang="en-US" sz="1550" dirty="0"/>
          </a:p>
        </p:txBody>
      </p:sp>
      <p:sp>
        <p:nvSpPr>
          <p:cNvPr id="6" name="Shape 4"/>
          <p:cNvSpPr/>
          <p:nvPr/>
        </p:nvSpPr>
        <p:spPr>
          <a:xfrm>
            <a:off x="7543800" y="1783080"/>
            <a:ext cx="4069080" cy="2743200"/>
          </a:xfrm>
          <a:prstGeom prst="roundRect">
            <a:avLst>
              <a:gd name="adj" fmla="val 3000"/>
            </a:avLst>
          </a:prstGeom>
          <a:solidFill>
            <a:srgbClr val="F3F6F9"/>
          </a:solidFill>
          <a:ln w="12700">
            <a:solidFill>
              <a:srgbClr val="D6DFE7"/>
            </a:solidFill>
            <a:prstDash val="solid"/>
          </a:ln>
        </p:spPr>
        <p:txBody>
          <a:bodyPr/>
          <a:p/>
        </p:txBody>
      </p:sp>
      <p:sp>
        <p:nvSpPr>
          <p:cNvPr id="7" name="Text 5"/>
          <p:cNvSpPr/>
          <p:nvPr/>
        </p:nvSpPr>
        <p:spPr>
          <a:xfrm>
            <a:off x="7708392" y="1892808"/>
            <a:ext cx="3739896" cy="2523744"/>
          </a:xfrm>
          <a:prstGeom prst="rect">
            <a:avLst/>
          </a:prstGeom>
          <a:noFill/>
        </p:spPr>
        <p:txBody>
          <a:bodyPr wrap="square" lIns="0" tIns="0" rIns="0" bIns="0" rtlCol="0" anchor="t"/>
          <a:lstStyle/>
          <a:p>
            <a:pPr marL="0" indent="0">
              <a:spcAft>
                <a:spcPts val="1200"/>
              </a:spcAft>
              <a:buNone/>
            </a:pPr>
            <a:r>
              <a:rPr lang="en-US" sz="1600" b="1" dirty="0">
                <a:solidFill>
                  <a:srgbClr val="2E8B57"/>
                </a:solidFill>
                <a:latin typeface="Calibri" panose="020F0502020204030204" pitchFamily="34" charset="0"/>
                <a:ea typeface="Calibri" panose="020F0502020204030204" pitchFamily="34" charset="-122"/>
                <a:cs typeface="Calibri" panose="020F0502020204030204" pitchFamily="34" charset="-120"/>
              </a:rPr>
              <a:t>Bản chốt: Voting</a:t>
            </a:r>
            <a:endParaRPr lang="en-US" sz="1600" dirty="0"/>
          </a:p>
          <a:p>
            <a:pPr marL="0" indent="0">
              <a:spcAft>
                <a:spcPts val="600"/>
              </a:spcAft>
              <a:buNone/>
            </a:pPr>
            <a:r>
              <a:rPr lang="en-US" sz="1400" dirty="0">
                <a:solidFill>
                  <a:srgbClr val="1B2733"/>
                </a:solidFill>
                <a:latin typeface="Calibri" panose="020F0502020204030204" pitchFamily="34" charset="0"/>
                <a:ea typeface="Calibri" panose="020F0502020204030204" pitchFamily="34" charset="-122"/>
                <a:cs typeface="Calibri" panose="020F0502020204030204" pitchFamily="34" charset="-120"/>
              </a:rPr>
              <a:t>RF 25% + ExtraTrees 25%</a:t>
            </a:r>
            <a:endParaRPr lang="en-US" sz="1600" dirty="0"/>
          </a:p>
          <a:p>
            <a:pPr marL="0" indent="0">
              <a:spcAft>
                <a:spcPts val="1200"/>
              </a:spcAft>
              <a:buNone/>
            </a:pPr>
            <a:r>
              <a:rPr lang="en-US" sz="1400" dirty="0">
                <a:solidFill>
                  <a:srgbClr val="1B2733"/>
                </a:solidFill>
                <a:latin typeface="Calibri" panose="020F0502020204030204" pitchFamily="34" charset="0"/>
                <a:ea typeface="Calibri" panose="020F0502020204030204" pitchFamily="34" charset="-122"/>
                <a:cs typeface="Calibri" panose="020F0502020204030204" pitchFamily="34" charset="-120"/>
              </a:rPr>
              <a:t>XGBoost 50%</a:t>
            </a:r>
            <a:endParaRPr lang="en-US" sz="1600" dirty="0"/>
          </a:p>
          <a:p>
            <a:pPr marL="0" indent="0">
              <a:buNone/>
            </a:pPr>
            <a:r>
              <a:rPr lang="en-US" sz="1250" i="1" dirty="0">
                <a:solidFill>
                  <a:srgbClr val="5B6B7A"/>
                </a:solidFill>
                <a:latin typeface="Calibri" panose="020F0502020204030204" pitchFamily="34" charset="0"/>
                <a:ea typeface="Calibri" panose="020F0502020204030204" pitchFamily="34" charset="-122"/>
                <a:cs typeface="Calibri" panose="020F0502020204030204" pitchFamily="34" charset="-120"/>
              </a:rPr>
              <a:t>→ bù trừ lỗi → ổn định hơn từng mô hình đơn.</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Shape 1"/>
          <p:cNvSpPr/>
          <p:nvPr/>
        </p:nvSpPr>
        <p:spPr>
          <a:xfrm>
            <a:off x="731520" y="2011680"/>
            <a:ext cx="2468880" cy="2468880"/>
          </a:xfrm>
          <a:prstGeom prst="roundRect">
            <a:avLst>
              <a:gd name="adj" fmla="val 5185"/>
            </a:avLst>
          </a:prstGeom>
          <a:solidFill>
            <a:srgbClr val="2E8B57"/>
          </a:solidFill>
        </p:spPr>
      </p:sp>
      <p:sp>
        <p:nvSpPr>
          <p:cNvPr id="4" name="Text 2"/>
          <p:cNvSpPr/>
          <p:nvPr/>
        </p:nvSpPr>
        <p:spPr>
          <a:xfrm>
            <a:off x="731520" y="2011680"/>
            <a:ext cx="2468880" cy="2468880"/>
          </a:xfrm>
          <a:prstGeom prst="rect">
            <a:avLst/>
          </a:prstGeom>
          <a:noFill/>
        </p:spPr>
        <p:txBody>
          <a:bodyPr wrap="square" lIns="0" tIns="0" rIns="0" bIns="0" rtlCol="0" anchor="ctr"/>
          <a:lstStyle/>
          <a:p>
            <a:pPr marL="0" indent="0" algn="ctr">
              <a:buNone/>
            </a:pPr>
            <a:r>
              <a:rPr lang="en-US" sz="8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a:t>
            </a:r>
            <a:endParaRPr lang="en-US" sz="8800" dirty="0"/>
          </a:p>
        </p:txBody>
      </p:sp>
      <p:sp>
        <p:nvSpPr>
          <p:cNvPr id="5" name="Text 3"/>
          <p:cNvSpPr/>
          <p:nvPr/>
        </p:nvSpPr>
        <p:spPr>
          <a:xfrm>
            <a:off x="3566160" y="2286000"/>
            <a:ext cx="7863840" cy="146304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quả · Độ tin cậy · Báo cáo</a:t>
            </a:r>
            <a:endParaRPr lang="en-US" sz="3400" dirty="0"/>
          </a:p>
        </p:txBody>
      </p:sp>
      <p:sp>
        <p:nvSpPr>
          <p:cNvPr id="7" name="Text 5"/>
          <p:cNvSpPr/>
          <p:nvPr/>
        </p:nvSpPr>
        <p:spPr>
          <a:xfrm>
            <a:off x="3611880" y="3353435"/>
            <a:ext cx="7680960" cy="807085"/>
          </a:xfrm>
          <a:prstGeom prst="rect">
            <a:avLst/>
          </a:prstGeom>
          <a:noFill/>
        </p:spPr>
        <p:txBody>
          <a:bodyPr wrap="square" lIns="0" tIns="0" rIns="0" bIns="0" rtlCol="0" anchor="ctr"/>
          <a:lstStyle/>
          <a:p>
            <a:pPr marL="0" indent="0">
              <a:buNone/>
            </a:pPr>
            <a:r>
              <a:rPr lang="en-US" sz="1400" i="1" dirty="0">
                <a:solidFill>
                  <a:srgbClr val="CFE0EC"/>
                </a:solidFill>
                <a:latin typeface="Calibri" panose="020F0502020204030204" pitchFamily="34" charset="0"/>
                <a:ea typeface="Calibri" panose="020F0502020204030204" pitchFamily="34" charset="-122"/>
                <a:cs typeface="Calibri" panose="020F0502020204030204" pitchFamily="34" charset="-120"/>
              </a:rPr>
              <a:t>Kết quả cuối trên B, confusion matrix, kiểm định bootstrap, insight &amp; hạn chế.</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Kết quả cuối trên nhà máy B  (3.0 điểm)</a:t>
            </a:r>
            <a:endParaRPr lang="en-US" sz="2700" dirty="0"/>
          </a:p>
        </p:txBody>
      </p:sp>
      <p:sp>
        <p:nvSpPr>
          <p:cNvPr id="5" name="Text 3"/>
          <p:cNvSpPr/>
          <p:nvPr/>
        </p:nvSpPr>
        <p:spPr>
          <a:xfrm>
            <a:off x="731520" y="1508760"/>
            <a:ext cx="3017520" cy="822960"/>
          </a:xfrm>
          <a:prstGeom prst="rect">
            <a:avLst/>
          </a:prstGeom>
          <a:noFill/>
        </p:spPr>
        <p:txBody>
          <a:bodyPr wrap="square" lIns="0" tIns="0" rIns="0" bIns="0" rtlCol="0" anchor="ctr"/>
          <a:lstStyle/>
          <a:p>
            <a:pPr marL="0" indent="0" algn="ctr">
              <a:buNone/>
            </a:pPr>
            <a:r>
              <a:rPr lang="en-US" sz="4000" b="1" dirty="0">
                <a:solidFill>
                  <a:srgbClr val="2E8B57"/>
                </a:solidFill>
                <a:latin typeface="Cambria" panose="02040503050406030204" pitchFamily="34" charset="0"/>
                <a:ea typeface="Cambria" panose="02040503050406030204" pitchFamily="34" charset="-122"/>
                <a:cs typeface="Cambria" panose="02040503050406030204" pitchFamily="34" charset="-120"/>
              </a:rPr>
              <a:t>0,783</a:t>
            </a:r>
            <a:endParaRPr lang="en-US" sz="4000" dirty="0"/>
          </a:p>
        </p:txBody>
      </p:sp>
      <p:sp>
        <p:nvSpPr>
          <p:cNvPr id="6" name="Text 4"/>
          <p:cNvSpPr/>
          <p:nvPr/>
        </p:nvSpPr>
        <p:spPr>
          <a:xfrm>
            <a:off x="73152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Điểm F1 (cao nhất)</a:t>
            </a:r>
            <a:endParaRPr lang="en-US" sz="1200" dirty="0"/>
          </a:p>
        </p:txBody>
      </p:sp>
      <p:sp>
        <p:nvSpPr>
          <p:cNvPr id="7" name="Text 5"/>
          <p:cNvSpPr/>
          <p:nvPr/>
        </p:nvSpPr>
        <p:spPr>
          <a:xfrm>
            <a:off x="3840480" y="1508760"/>
            <a:ext cx="3017520" cy="822960"/>
          </a:xfrm>
          <a:prstGeom prst="rect">
            <a:avLst/>
          </a:prstGeom>
          <a:noFill/>
        </p:spPr>
        <p:txBody>
          <a:bodyPr wrap="square" lIns="0" tIns="0" rIns="0" bIns="0" rtlCol="0" anchor="ctr"/>
          <a:lstStyle/>
          <a:p>
            <a:pPr marL="0" indent="0" algn="ctr">
              <a:buNone/>
            </a:pPr>
            <a:r>
              <a:rPr lang="en-US" sz="4000" b="1" dirty="0">
                <a:solidFill>
                  <a:srgbClr val="1F8A8C"/>
                </a:solidFill>
                <a:latin typeface="Cambria" panose="02040503050406030204" pitchFamily="34" charset="0"/>
                <a:ea typeface="Cambria" panose="02040503050406030204" pitchFamily="34" charset="-122"/>
                <a:cs typeface="Cambria" panose="02040503050406030204" pitchFamily="34" charset="-120"/>
              </a:rPr>
              <a:t>~75%</a:t>
            </a:r>
            <a:endParaRPr lang="en-US" sz="4000" dirty="0"/>
          </a:p>
        </p:txBody>
      </p:sp>
      <p:sp>
        <p:nvSpPr>
          <p:cNvPr id="8" name="Text 6"/>
          <p:cNvSpPr/>
          <p:nvPr/>
        </p:nvSpPr>
        <p:spPr>
          <a:xfrm>
            <a:off x="384048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máy hỏng được bắt (Recall)</a:t>
            </a:r>
            <a:endParaRPr lang="en-US" sz="1200" dirty="0"/>
          </a:p>
        </p:txBody>
      </p:sp>
      <p:sp>
        <p:nvSpPr>
          <p:cNvPr id="9" name="Text 7"/>
          <p:cNvSpPr/>
          <p:nvPr/>
        </p:nvSpPr>
        <p:spPr>
          <a:xfrm>
            <a:off x="6949440" y="1508760"/>
            <a:ext cx="3017520" cy="822960"/>
          </a:xfrm>
          <a:prstGeom prst="rect">
            <a:avLst/>
          </a:prstGeom>
          <a:noFill/>
        </p:spPr>
        <p:txBody>
          <a:bodyPr wrap="square" lIns="0" tIns="0" rIns="0" bIns="0" rtlCol="0" anchor="ctr"/>
          <a:lstStyle/>
          <a:p>
            <a:pPr marL="0" indent="0" algn="ctr">
              <a:buNone/>
            </a:pPr>
            <a:r>
              <a:rPr lang="en-US" sz="4000" b="1" dirty="0">
                <a:solidFill>
                  <a:srgbClr val="F2A104"/>
                </a:solidFill>
                <a:latin typeface="Cambria" panose="02040503050406030204" pitchFamily="34" charset="0"/>
                <a:ea typeface="Cambria" panose="02040503050406030204" pitchFamily="34" charset="-122"/>
                <a:cs typeface="Cambria" panose="02040503050406030204" pitchFamily="34" charset="-120"/>
              </a:rPr>
              <a:t>4/5</a:t>
            </a:r>
            <a:endParaRPr lang="en-US" sz="4000" dirty="0"/>
          </a:p>
        </p:txBody>
      </p:sp>
      <p:sp>
        <p:nvSpPr>
          <p:cNvPr id="10" name="Text 8"/>
          <p:cNvSpPr/>
          <p:nvPr/>
        </p:nvSpPr>
        <p:spPr>
          <a:xfrm>
            <a:off x="6949440" y="2313432"/>
            <a:ext cx="3017520" cy="457200"/>
          </a:xfrm>
          <a:prstGeom prst="rect">
            <a:avLst/>
          </a:prstGeom>
          <a:noFill/>
        </p:spPr>
        <p:txBody>
          <a:bodyPr wrap="square" lIns="0" tIns="0" rIns="0" bIns="0" rtlCol="0" anchor="ctr"/>
          <a:lstStyle/>
          <a:p>
            <a:pPr marL="0" indent="0" algn="ctr">
              <a:buNone/>
            </a:pPr>
            <a:r>
              <a:rPr lang="en-US" sz="1200" dirty="0">
                <a:solidFill>
                  <a:srgbClr val="5B6B7A"/>
                </a:solidFill>
                <a:latin typeface="Calibri" panose="020F0502020204030204" pitchFamily="34" charset="0"/>
                <a:ea typeface="Calibri" panose="020F0502020204030204" pitchFamily="34" charset="-122"/>
                <a:cs typeface="Calibri" panose="020F0502020204030204" pitchFamily="34" charset="-120"/>
              </a:rPr>
              <a:t>cảnh báo đúng (Precision)</a:t>
            </a:r>
            <a:endParaRPr lang="en-US" sz="1200" dirty="0"/>
          </a:p>
        </p:txBody>
      </p:sp>
      <p:graphicFrame>
        <p:nvGraphicFramePr>
          <p:cNvPr id="11" name="Chart 0"/>
          <p:cNvGraphicFramePr/>
          <p:nvPr/>
        </p:nvGraphicFramePr>
        <p:xfrm>
          <a:off x="502920" y="3063240"/>
          <a:ext cx="5943600" cy="3246120"/>
        </p:xfrm>
        <a:graphic>
          <a:graphicData uri="http://schemas.openxmlformats.org/drawingml/2006/chart">
            <c:chart xmlns:c="http://schemas.openxmlformats.org/drawingml/2006/chart" xmlns:r="http://schemas.openxmlformats.org/officeDocument/2006/relationships" r:id="rId1"/>
          </a:graphicData>
        </a:graphic>
      </p:graphicFrame>
      <p:sp>
        <p:nvSpPr>
          <p:cNvPr id="12" name="Shape 9"/>
          <p:cNvSpPr/>
          <p:nvPr/>
        </p:nvSpPr>
        <p:spPr>
          <a:xfrm>
            <a:off x="6693408" y="2990088"/>
            <a:ext cx="4078224" cy="3282696"/>
          </a:xfrm>
          <a:prstGeom prst="roundRect">
            <a:avLst>
              <a:gd name="adj" fmla="val 1671"/>
            </a:avLst>
          </a:prstGeom>
          <a:solidFill>
            <a:srgbClr val="FFFFFF"/>
          </a:solidFill>
          <a:ln w="12700">
            <a:solidFill>
              <a:srgbClr val="D6DFE7"/>
            </a:solidFill>
            <a:prstDash val="solid"/>
          </a:ln>
        </p:spPr>
        <p:txBody>
          <a:bodyPr/>
          <a:p/>
        </p:txBody>
      </p:sp>
      <p:pic>
        <p:nvPicPr>
          <p:cNvPr id="13" name="Image 0" descr="C:/Users/LEGION/AppData/Local/Temp/claude/D--studies-Master-s-Degree-MSE-Session-1-ML-GroupProject-bai-tap-cuoi-khoa/b0b6e863-aebc-4618-98e8-e039d29f16c9/scratchpad/imgs/cell102.png"/>
          <p:cNvPicPr>
            <a:picLocks noChangeAspect="1"/>
          </p:cNvPicPr>
          <p:nvPr/>
        </p:nvPicPr>
        <p:blipFill>
          <a:blip r:embed="rId2"/>
          <a:stretch>
            <a:fillRect/>
          </a:stretch>
        </p:blipFill>
        <p:spPr>
          <a:xfrm>
            <a:off x="6766560" y="3063240"/>
            <a:ext cx="3931920" cy="3136392"/>
          </a:xfrm>
          <a:prstGeom prst="rect">
            <a:avLst/>
          </a:prstGeom>
        </p:spPr>
      </p:pic>
      <p:sp>
        <p:nvSpPr>
          <p:cNvPr id="14" name="Text 10"/>
          <p:cNvSpPr/>
          <p:nvPr/>
        </p:nvSpPr>
        <p:spPr>
          <a:xfrm>
            <a:off x="6766560" y="6217920"/>
            <a:ext cx="393192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PR-curve trên B — v6 cao hơn hẳn 'đoán bừa'</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Ma trận nhầm lẫn — bản chốt v6 (ngưỡng 0,585)</a:t>
            </a:r>
            <a:endParaRPr lang="en-US" sz="2700" dirty="0"/>
          </a:p>
        </p:txBody>
      </p:sp>
      <p:sp>
        <p:nvSpPr>
          <p:cNvPr id="5" name="Text 3"/>
          <p:cNvSpPr/>
          <p:nvPr/>
        </p:nvSpPr>
        <p:spPr>
          <a:xfrm>
            <a:off x="822960" y="1554480"/>
            <a:ext cx="4572000" cy="320040"/>
          </a:xfrm>
          <a:prstGeom prst="rect">
            <a:avLst/>
          </a:prstGeom>
          <a:noFill/>
        </p:spPr>
        <p:txBody>
          <a:bodyPr wrap="square" lIns="0" tIns="0" rIns="0" bIns="0" rtlCol="0" anchor="ctr"/>
          <a:lstStyle/>
          <a:p>
            <a:pPr marL="0" indent="0">
              <a:buNone/>
            </a:pPr>
            <a:r>
              <a:rPr lang="en-US" sz="1200" i="1" dirty="0">
                <a:solidFill>
                  <a:srgbClr val="5B6B7A"/>
                </a:solidFill>
                <a:latin typeface="Calibri" panose="020F0502020204030204" pitchFamily="34" charset="0"/>
                <a:ea typeface="Calibri" panose="020F0502020204030204" pitchFamily="34" charset="-122"/>
                <a:cs typeface="Calibri" panose="020F0502020204030204" pitchFamily="34" charset="-120"/>
              </a:rPr>
              <a:t>Thực tế →</a:t>
            </a:r>
            <a:endParaRPr lang="en-US" sz="1200" dirty="0"/>
          </a:p>
        </p:txBody>
      </p:sp>
      <p:sp>
        <p:nvSpPr>
          <p:cNvPr id="6" name="Shape 4"/>
          <p:cNvSpPr/>
          <p:nvPr/>
        </p:nvSpPr>
        <p:spPr>
          <a:xfrm>
            <a:off x="2103120" y="1965960"/>
            <a:ext cx="2148840" cy="1417320"/>
          </a:xfrm>
          <a:prstGeom prst="roundRect">
            <a:avLst>
              <a:gd name="adj" fmla="val 5161"/>
            </a:avLst>
          </a:prstGeom>
          <a:solidFill>
            <a:srgbClr val="2E8B57"/>
          </a:solidFill>
        </p:spPr>
        <p:txBody>
          <a:bodyPr/>
          <a:p/>
        </p:txBody>
      </p:sp>
      <p:sp>
        <p:nvSpPr>
          <p:cNvPr id="7" name="Text 5"/>
          <p:cNvSpPr/>
          <p:nvPr/>
        </p:nvSpPr>
        <p:spPr>
          <a:xfrm>
            <a:off x="2194560" y="196596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TN (đúng)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lành → bỏ qua</a:t>
            </a:r>
            <a:endParaRPr lang="en-US" sz="1500" dirty="0"/>
          </a:p>
        </p:txBody>
      </p:sp>
      <p:sp>
        <p:nvSpPr>
          <p:cNvPr id="8" name="Shape 6"/>
          <p:cNvSpPr/>
          <p:nvPr/>
        </p:nvSpPr>
        <p:spPr>
          <a:xfrm>
            <a:off x="4389120" y="1965960"/>
            <a:ext cx="2148840" cy="1417320"/>
          </a:xfrm>
          <a:prstGeom prst="roundRect">
            <a:avLst>
              <a:gd name="adj" fmla="val 5161"/>
            </a:avLst>
          </a:prstGeom>
          <a:solidFill>
            <a:srgbClr val="F2A104"/>
          </a:solidFill>
        </p:spPr>
        <p:txBody>
          <a:bodyPr/>
          <a:p/>
        </p:txBody>
      </p:sp>
      <p:sp>
        <p:nvSpPr>
          <p:cNvPr id="9" name="Text 7"/>
          <p:cNvSpPr/>
          <p:nvPr/>
        </p:nvSpPr>
        <p:spPr>
          <a:xfrm>
            <a:off x="4480560" y="196596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FP (báo động giả)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lành → cảnh báo nhầm</a:t>
            </a:r>
            <a:endParaRPr lang="en-US" sz="1500" dirty="0"/>
          </a:p>
        </p:txBody>
      </p:sp>
      <p:sp>
        <p:nvSpPr>
          <p:cNvPr id="10" name="Shape 8"/>
          <p:cNvSpPr/>
          <p:nvPr/>
        </p:nvSpPr>
        <p:spPr>
          <a:xfrm>
            <a:off x="2103120" y="3520440"/>
            <a:ext cx="2148840" cy="1417320"/>
          </a:xfrm>
          <a:prstGeom prst="roundRect">
            <a:avLst>
              <a:gd name="adj" fmla="val 5161"/>
            </a:avLst>
          </a:prstGeom>
          <a:solidFill>
            <a:srgbClr val="C4444E"/>
          </a:solidFill>
        </p:spPr>
        <p:txBody>
          <a:bodyPr/>
          <a:p/>
        </p:txBody>
      </p:sp>
      <p:sp>
        <p:nvSpPr>
          <p:cNvPr id="11" name="Text 9"/>
          <p:cNvSpPr/>
          <p:nvPr/>
        </p:nvSpPr>
        <p:spPr>
          <a:xfrm>
            <a:off x="2194560" y="352044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FN (BỎ SÓT)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hỏng → không cảnh báo</a:t>
            </a:r>
            <a:endParaRPr lang="en-US" sz="1500" dirty="0"/>
          </a:p>
        </p:txBody>
      </p:sp>
      <p:sp>
        <p:nvSpPr>
          <p:cNvPr id="12" name="Shape 10"/>
          <p:cNvSpPr/>
          <p:nvPr/>
        </p:nvSpPr>
        <p:spPr>
          <a:xfrm>
            <a:off x="4389120" y="3520440"/>
            <a:ext cx="2148840" cy="1417320"/>
          </a:xfrm>
          <a:prstGeom prst="roundRect">
            <a:avLst>
              <a:gd name="adj" fmla="val 5161"/>
            </a:avLst>
          </a:prstGeom>
          <a:solidFill>
            <a:srgbClr val="1F8A8C"/>
          </a:solidFill>
        </p:spPr>
        <p:txBody>
          <a:bodyPr/>
          <a:p/>
        </p:txBody>
      </p:sp>
      <p:sp>
        <p:nvSpPr>
          <p:cNvPr id="13" name="Text 11"/>
          <p:cNvSpPr/>
          <p:nvPr/>
        </p:nvSpPr>
        <p:spPr>
          <a:xfrm>
            <a:off x="4480560" y="3520440"/>
            <a:ext cx="1965960" cy="141732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TP (đúng)
</a:t>
            </a:r>
            <a:r>
              <a:rPr lang="en-US" sz="1050" dirty="0">
                <a:solidFill>
                  <a:srgbClr val="F2F2F2"/>
                </a:solidFill>
                <a:latin typeface="Calibri" panose="020F0502020204030204" pitchFamily="34" charset="0"/>
                <a:ea typeface="Calibri" panose="020F0502020204030204" pitchFamily="34" charset="-122"/>
                <a:cs typeface="Calibri" panose="020F0502020204030204" pitchFamily="34" charset="-120"/>
              </a:rPr>
              <a:t>máy hỏng → cảnh báo đúng</a:t>
            </a:r>
            <a:endParaRPr lang="en-US" sz="1500" dirty="0"/>
          </a:p>
        </p:txBody>
      </p:sp>
      <p:sp>
        <p:nvSpPr>
          <p:cNvPr id="14" name="Text 12"/>
          <p:cNvSpPr/>
          <p:nvPr/>
        </p:nvSpPr>
        <p:spPr>
          <a:xfrm>
            <a:off x="777240" y="2514600"/>
            <a:ext cx="1280160" cy="548640"/>
          </a:xfrm>
          <a:prstGeom prst="rect">
            <a:avLst/>
          </a:prstGeom>
          <a:noFill/>
        </p:spPr>
        <p:txBody>
          <a:bodyPr wrap="square" lIns="0" tIns="0" rIns="0" bIns="0" rtlCol="0" anchor="ctr"/>
          <a:lstStyle/>
          <a:p>
            <a:pPr marL="0" indent="0" algn="ctr">
              <a:buNone/>
            </a:pPr>
            <a:r>
              <a:rPr lang="en-US" sz="1200" i="1" dirty="0">
                <a:solidFill>
                  <a:srgbClr val="5B6B7A"/>
                </a:solidFill>
                <a:latin typeface="Calibri" panose="020F0502020204030204" pitchFamily="34" charset="0"/>
                <a:ea typeface="Calibri" panose="020F0502020204030204" pitchFamily="34" charset="-122"/>
                <a:cs typeface="Calibri" panose="020F0502020204030204" pitchFamily="34" charset="-120"/>
              </a:rPr>
              <a:t>Dự đoán ↓</a:t>
            </a:r>
            <a:endParaRPr lang="en-US" sz="1200" dirty="0"/>
          </a:p>
        </p:txBody>
      </p:sp>
      <p:sp>
        <p:nvSpPr>
          <p:cNvPr id="15" name="Shape 13"/>
          <p:cNvSpPr/>
          <p:nvPr/>
        </p:nvSpPr>
        <p:spPr>
          <a:xfrm>
            <a:off x="6949440" y="1828800"/>
            <a:ext cx="4663440" cy="3657600"/>
          </a:xfrm>
          <a:prstGeom prst="roundRect">
            <a:avLst>
              <a:gd name="adj" fmla="val 2250"/>
            </a:avLst>
          </a:prstGeom>
          <a:solidFill>
            <a:srgbClr val="F3F6F9"/>
          </a:solidFill>
          <a:ln w="12700">
            <a:solidFill>
              <a:srgbClr val="D6DFE7"/>
            </a:solidFill>
            <a:prstDash val="solid"/>
          </a:ln>
        </p:spPr>
        <p:txBody>
          <a:bodyPr/>
          <a:p/>
        </p:txBody>
      </p:sp>
      <p:sp>
        <p:nvSpPr>
          <p:cNvPr id="16" name="Text 14"/>
          <p:cNvSpPr/>
          <p:nvPr/>
        </p:nvSpPr>
        <p:spPr>
          <a:xfrm>
            <a:off x="7114032" y="1938528"/>
            <a:ext cx="4334256" cy="3438144"/>
          </a:xfrm>
          <a:prstGeom prst="rect">
            <a:avLst/>
          </a:prstGeom>
          <a:noFill/>
        </p:spPr>
        <p:txBody>
          <a:bodyPr wrap="square" lIns="0" tIns="0" rIns="0" bIns="0" rtlCol="0" anchor="t"/>
          <a:lstStyle/>
          <a:p>
            <a:pPr marL="0" indent="0">
              <a:spcAft>
                <a:spcPts val="10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Đọc ma trận thế nào?</a:t>
            </a:r>
            <a:endParaRPr lang="en-US" sz="1500" dirty="0"/>
          </a:p>
          <a:p>
            <a:pPr marL="0" indent="0">
              <a:spcAft>
                <a:spcPts val="7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TP — bắt đúng máy hỏng (mục tiêu).</a:t>
            </a:r>
            <a:endParaRPr lang="en-US" sz="1500" dirty="0"/>
          </a:p>
          <a:p>
            <a:pPr marL="0" indent="0">
              <a:spcAft>
                <a:spcPts val="700"/>
              </a:spcAft>
              <a:buNone/>
            </a:pPr>
            <a:r>
              <a:rPr lang="en-US" sz="1300" dirty="0">
                <a:solidFill>
                  <a:srgbClr val="C4444E"/>
                </a:solidFill>
                <a:latin typeface="Calibri" panose="020F0502020204030204" pitchFamily="34" charset="0"/>
                <a:ea typeface="Calibri" panose="020F0502020204030204" pitchFamily="34" charset="-122"/>
                <a:cs typeface="Calibri" panose="020F0502020204030204" pitchFamily="34" charset="-120"/>
              </a:rPr>
              <a:t>• FN — BỎ SÓT máy hỏng: tốn kém NHẤT (máy dừng đột ngột).</a:t>
            </a:r>
            <a:endParaRPr lang="en-US" sz="1500" dirty="0"/>
          </a:p>
          <a:p>
            <a:pPr marL="0" indent="0">
              <a:spcAft>
                <a:spcPts val="1000"/>
              </a:spcAft>
              <a:buNone/>
            </a:pPr>
            <a:r>
              <a:rPr lang="en-US" sz="1300" dirty="0">
                <a:solidFill>
                  <a:srgbClr val="F2A104"/>
                </a:solidFill>
                <a:latin typeface="Calibri" panose="020F0502020204030204" pitchFamily="34" charset="0"/>
                <a:ea typeface="Calibri" panose="020F0502020204030204" pitchFamily="34" charset="-122"/>
                <a:cs typeface="Calibri" panose="020F0502020204030204" pitchFamily="34" charset="-120"/>
              </a:rPr>
              <a:t>• FP — báo động giả: chi phí kiểm tra thừa (rẻ hơn FN).</a:t>
            </a:r>
            <a:endParaRPr lang="en-US" sz="1500" dirty="0"/>
          </a:p>
          <a:p>
            <a:pPr marL="0" indent="0">
              <a:buNone/>
            </a:pPr>
            <a:r>
              <a:rPr lang="en-US" sz="1250" b="1" dirty="0">
                <a:solidFill>
                  <a:srgbClr val="16283A"/>
                </a:solidFill>
                <a:latin typeface="Calibri" panose="020F0502020204030204" pitchFamily="34" charset="0"/>
                <a:ea typeface="Calibri" panose="020F0502020204030204" pitchFamily="34" charset="-122"/>
                <a:cs typeface="Calibri" panose="020F0502020204030204" pitchFamily="34" charset="-120"/>
              </a:rPr>
              <a:t>Ở ngưỡng 0,585: Recall ~75%, Precision ~82%. Vì FN đắt hơn → có thể hạ ngưỡng để tăng Recall.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Con số 0,783 có chắc chắn không? (bootstrap)</a:t>
            </a:r>
            <a:endParaRPr lang="en-US" sz="2700" dirty="0"/>
          </a:p>
        </p:txBody>
      </p:sp>
      <p:sp>
        <p:nvSpPr>
          <p:cNvPr id="5" name="Text 3"/>
          <p:cNvSpPr/>
          <p:nvPr/>
        </p:nvSpPr>
        <p:spPr>
          <a:xfrm>
            <a:off x="566928" y="1783080"/>
            <a:ext cx="6858000" cy="3657600"/>
          </a:xfrm>
          <a:prstGeom prst="rect">
            <a:avLst/>
          </a:prstGeom>
          <a:noFill/>
        </p:spPr>
        <p:txBody>
          <a:bodyPr wrap="square" lIns="0" tIns="0" rIns="0" bIns="0" rtlCol="0" anchor="t"/>
          <a:lstStyle/>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Chỉ 477 máy hỏng ở B → F1 có sai số → phải báo 'khoảng tin cậy'.</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Cách làm: bốc lại mẫu 2000 lần, xem F1 dao động cỡ nào.</a:t>
            </a:r>
            <a:endParaRPr lang="en-US" sz="1550" dirty="0"/>
          </a:p>
          <a:p>
            <a:pPr marL="203200" indent="-203200">
              <a:spcAft>
                <a:spcPts val="900"/>
              </a:spcAft>
              <a:buSzPct val="100000"/>
              <a:buChar char="•"/>
            </a:pPr>
            <a:r>
              <a:rPr lang="en-US" sz="1550" b="1" dirty="0">
                <a:solidFill>
                  <a:srgbClr val="16283A"/>
                </a:solidFill>
                <a:latin typeface="Calibri" panose="020F0502020204030204" pitchFamily="34" charset="0"/>
                <a:ea typeface="Calibri" panose="020F0502020204030204" pitchFamily="34" charset="-122"/>
                <a:cs typeface="Calibri" panose="020F0502020204030204" pitchFamily="34" charset="-120"/>
              </a:rPr>
              <a:t>F1 = 0,783, khoảng tin cậy 95% = [0,753 ; 0,811].</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Các bản đầu bảng (0,767–0,783) chênh rất nhỏ → coi như ngang nhau, KHÔNG khoe hơn-kém.</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So trực tiếp từng lần: bản gộp thắng bản đơn 100% số lần (chênh +0,015) → nhỉnh đều nhưng biên độ nhỏ.</a:t>
            </a:r>
            <a:endParaRPr lang="en-US" sz="1550" dirty="0"/>
          </a:p>
        </p:txBody>
      </p:sp>
      <p:sp>
        <p:nvSpPr>
          <p:cNvPr id="6" name="Shape 4"/>
          <p:cNvSpPr/>
          <p:nvPr/>
        </p:nvSpPr>
        <p:spPr>
          <a:xfrm>
            <a:off x="7379208" y="1709928"/>
            <a:ext cx="4306824" cy="1508760"/>
          </a:xfrm>
          <a:prstGeom prst="roundRect">
            <a:avLst>
              <a:gd name="adj" fmla="val 3636"/>
            </a:avLst>
          </a:prstGeom>
          <a:solidFill>
            <a:srgbClr val="FFFFFF"/>
          </a:solidFill>
          <a:ln w="12700">
            <a:solidFill>
              <a:srgbClr val="D6DFE7"/>
            </a:solidFill>
            <a:prstDash val="solid"/>
          </a:ln>
        </p:spPr>
        <p:txBody>
          <a:bodyPr/>
          <a:p/>
        </p:txBody>
      </p:sp>
      <p:pic>
        <p:nvPicPr>
          <p:cNvPr id="7" name="Image 0" descr="C:/Users/LEGION/AppData/Local/Temp/claude/D--studies-Master-s-Degree-MSE-Session-1-ML-GroupProject-bai-tap-cuoi-khoa/b0b6e863-aebc-4618-98e8-e039d29f16c9/scratchpad/imgs/cell108.png"/>
          <p:cNvPicPr>
            <a:picLocks noChangeAspect="1"/>
          </p:cNvPicPr>
          <p:nvPr/>
        </p:nvPicPr>
        <p:blipFill>
          <a:blip r:embed="rId1"/>
          <a:stretch>
            <a:fillRect/>
          </a:stretch>
        </p:blipFill>
        <p:spPr>
          <a:xfrm>
            <a:off x="7452360" y="1783080"/>
            <a:ext cx="4160520" cy="1362456"/>
          </a:xfrm>
          <a:prstGeom prst="rect">
            <a:avLst/>
          </a:prstGeom>
        </p:spPr>
      </p:pic>
      <p:sp>
        <p:nvSpPr>
          <p:cNvPr id="8" name="Text 5"/>
          <p:cNvSpPr/>
          <p:nvPr/>
        </p:nvSpPr>
        <p:spPr>
          <a:xfrm>
            <a:off x="7452360" y="3163824"/>
            <a:ext cx="4160520" cy="274320"/>
          </a:xfrm>
          <a:prstGeom prst="rect">
            <a:avLst/>
          </a:prstGeom>
          <a:noFill/>
        </p:spPr>
        <p:txBody>
          <a:bodyPr wrap="square" lIns="0" tIns="0" rIns="0" bIns="0" rtlCol="0" anchor="ctr"/>
          <a:lstStyle/>
          <a:p>
            <a:pPr marL="0" indent="0" algn="ctr">
              <a:buNone/>
            </a:pPr>
            <a:r>
              <a:rPr lang="en-US" sz="1000" i="1" dirty="0">
                <a:solidFill>
                  <a:srgbClr val="5B6B7A"/>
                </a:solidFill>
                <a:latin typeface="Calibri" panose="020F0502020204030204" pitchFamily="34" charset="0"/>
                <a:ea typeface="Calibri" panose="020F0502020204030204" pitchFamily="34" charset="-122"/>
                <a:cs typeface="Calibri" panose="020F0502020204030204" pitchFamily="34" charset="-120"/>
              </a:rPr>
              <a:t>Bootstrap F1 (2000 lần) + độ nhạy F1 quanh ngưỡng</a:t>
            </a:r>
            <a:endParaRPr lang="en-US" sz="1000" dirty="0"/>
          </a:p>
        </p:txBody>
      </p:sp>
      <p:sp>
        <p:nvSpPr>
          <p:cNvPr id="9" name="Shape 6"/>
          <p:cNvSpPr/>
          <p:nvPr/>
        </p:nvSpPr>
        <p:spPr>
          <a:xfrm>
            <a:off x="7452360" y="3337560"/>
            <a:ext cx="4160520" cy="2240280"/>
          </a:xfrm>
          <a:prstGeom prst="roundRect">
            <a:avLst>
              <a:gd name="adj" fmla="val 3673"/>
            </a:avLst>
          </a:prstGeom>
          <a:solidFill>
            <a:srgbClr val="16283A"/>
          </a:solidFill>
          <a:ln w="12700">
            <a:solidFill>
              <a:srgbClr val="D6DFE7"/>
            </a:solidFill>
            <a:prstDash val="solid"/>
          </a:ln>
        </p:spPr>
        <p:txBody>
          <a:bodyPr/>
          <a:p/>
        </p:txBody>
      </p:sp>
      <p:sp>
        <p:nvSpPr>
          <p:cNvPr id="10" name="Text 7"/>
          <p:cNvSpPr/>
          <p:nvPr/>
        </p:nvSpPr>
        <p:spPr>
          <a:xfrm>
            <a:off x="7616952" y="3447288"/>
            <a:ext cx="3831336" cy="2020824"/>
          </a:xfrm>
          <a:prstGeom prst="rect">
            <a:avLst/>
          </a:prstGeom>
          <a:noFill/>
        </p:spPr>
        <p:txBody>
          <a:bodyPr wrap="square" lIns="0" tIns="0" rIns="0" bIns="0" rtlCol="0" anchor="t"/>
          <a:lstStyle/>
          <a:p>
            <a:pPr marL="0" indent="0">
              <a:spcAft>
                <a:spcPts val="400"/>
              </a:spcAft>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F1 = 0,783</a:t>
            </a:r>
            <a:endParaRPr lang="en-US" sz="2200" dirty="0"/>
          </a:p>
          <a:p>
            <a:pPr marL="0" indent="0">
              <a:spcAft>
                <a:spcPts val="1000"/>
              </a:spcAft>
              <a:buNone/>
            </a:pPr>
            <a:r>
              <a:rPr lang="en-US" sz="1500" dirty="0">
                <a:solidFill>
                  <a:srgbClr val="CFE0EC"/>
                </a:solidFill>
                <a:latin typeface="Calibri" panose="020F0502020204030204" pitchFamily="34" charset="0"/>
                <a:ea typeface="Calibri" panose="020F0502020204030204" pitchFamily="34" charset="-122"/>
                <a:cs typeface="Calibri" panose="020F0502020204030204" pitchFamily="34" charset="-120"/>
              </a:rPr>
              <a:t>95% CI [0,753 ; 0,811]</a:t>
            </a:r>
            <a:endParaRPr lang="en-US" sz="2200" dirty="0"/>
          </a:p>
          <a:p>
            <a:pPr marL="0" indent="0">
              <a:buNone/>
            </a:pPr>
            <a:r>
              <a:rPr lang="en-US" sz="1250" i="1" dirty="0">
                <a:solidFill>
                  <a:srgbClr val="CFE0EC"/>
                </a:solidFill>
                <a:latin typeface="Calibri" panose="020F0502020204030204" pitchFamily="34" charset="0"/>
                <a:ea typeface="Calibri" panose="020F0502020204030204" pitchFamily="34" charset="-122"/>
                <a:cs typeface="Calibri" panose="020F0502020204030204" pitchFamily="34" charset="-120"/>
              </a:rPr>
              <a:t>Không thổi phồng chênh lệch nhỏ — đúng tinh thần khoa học.</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5.1 — Rút ra gì cho nhà máy?</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Text 3"/>
          <p:cNvSpPr/>
          <p:nvPr/>
        </p:nvSpPr>
        <p:spPr>
          <a:xfrm>
            <a:off x="566928" y="1783080"/>
            <a:ext cx="6766560" cy="2743200"/>
          </a:xfrm>
          <a:prstGeom prst="rect">
            <a:avLst/>
          </a:prstGeom>
          <a:noFill/>
        </p:spPr>
        <p:txBody>
          <a:bodyPr wrap="square" lIns="0" tIns="0" rIns="0" bIns="0" rtlCol="0" anchor="t"/>
          <a:lstStyle/>
          <a:p>
            <a:pPr marL="203200" indent="-203200">
              <a:spcAft>
                <a:spcPts val="900"/>
              </a:spcAft>
              <a:buSzPct val="100000"/>
              <a:buChar char="•"/>
            </a:pPr>
            <a:r>
              <a:rPr lang="en-US" sz="1550" b="1" dirty="0">
                <a:solidFill>
                  <a:srgbClr val="1B2733"/>
                </a:solidFill>
                <a:latin typeface="Calibri" panose="020F0502020204030204" pitchFamily="34" charset="0"/>
                <a:ea typeface="Calibri" panose="020F0502020204030204" pitchFamily="34" charset="-122"/>
                <a:cs typeface="Calibri" panose="020F0502020204030204" pitchFamily="34" charset="-120"/>
              </a:rPr>
              <a:t>Theo dõi ĐỘ MÒN DAO là quan trọng nhất: vừa báo hỏng tốt, vừa can thiệp được (thay dao) → ưu tiên #1 cho đội bảo trì.</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Đặt cảnh báo theo NGƯỠNG VẬT LÝ: dùng lại được cả khi đổi máy / đổi nhà máy, không cần học lại từ đầu.</a:t>
            </a:r>
            <a:endParaRPr lang="en-US" sz="1550" dirty="0"/>
          </a:p>
          <a:p>
            <a:pPr marL="203200" indent="-203200">
              <a:spcAft>
                <a:spcPts val="900"/>
              </a:spcAft>
              <a:buSzPct val="100000"/>
              <a:buChar char="•"/>
            </a:pPr>
            <a:r>
              <a:rPr lang="en-US" sz="1550" dirty="0">
                <a:solidFill>
                  <a:srgbClr val="1B2733"/>
                </a:solidFill>
                <a:latin typeface="Calibri" panose="020F0502020204030204" pitchFamily="34" charset="0"/>
                <a:ea typeface="Calibri" panose="020F0502020204030204" pitchFamily="34" charset="-122"/>
                <a:cs typeface="Calibri" panose="020F0502020204030204" pitchFamily="34" charset="-120"/>
              </a:rPr>
              <a:t>Cân nhắc bỏ sót ↔ báo động giả: bỏ sót thường đắt hơn → có thể nới cảnh báo để bắt nhiều máy hỏng hơn.</a:t>
            </a:r>
            <a:endParaRPr lang="en-US" sz="1550" dirty="0"/>
          </a:p>
        </p:txBody>
      </p:sp>
      <p:sp>
        <p:nvSpPr>
          <p:cNvPr id="6" name="Shape 4"/>
          <p:cNvSpPr/>
          <p:nvPr/>
        </p:nvSpPr>
        <p:spPr>
          <a:xfrm>
            <a:off x="7452360" y="1783080"/>
            <a:ext cx="4160520" cy="3566160"/>
          </a:xfrm>
          <a:prstGeom prst="roundRect">
            <a:avLst>
              <a:gd name="adj" fmla="val 2308"/>
            </a:avLst>
          </a:prstGeom>
          <a:solidFill>
            <a:srgbClr val="F3F6F9"/>
          </a:solidFill>
          <a:ln w="12700">
            <a:solidFill>
              <a:srgbClr val="D6DFE7"/>
            </a:solidFill>
            <a:prstDash val="solid"/>
          </a:ln>
        </p:spPr>
      </p:sp>
      <p:sp>
        <p:nvSpPr>
          <p:cNvPr id="7" name="Text 5"/>
          <p:cNvSpPr/>
          <p:nvPr/>
        </p:nvSpPr>
        <p:spPr>
          <a:xfrm>
            <a:off x="7616952" y="1892808"/>
            <a:ext cx="3831336" cy="3346704"/>
          </a:xfrm>
          <a:prstGeom prst="rect">
            <a:avLst/>
          </a:prstGeom>
          <a:noFill/>
        </p:spPr>
        <p:txBody>
          <a:bodyPr wrap="square" lIns="0" tIns="0" rIns="0" bIns="0" rtlCol="0" anchor="t"/>
          <a:lstStyle/>
          <a:p>
            <a:pPr marL="0" indent="0">
              <a:spcAft>
                <a:spcPts val="1200"/>
              </a:spcAft>
              <a:buNone/>
            </a:pPr>
            <a:r>
              <a:rPr lang="en-US" sz="1500" b="1" dirty="0">
                <a:solidFill>
                  <a:srgbClr val="16283A"/>
                </a:solidFill>
                <a:latin typeface="Calibri" panose="020F0502020204030204" pitchFamily="34" charset="0"/>
                <a:ea typeface="Calibri" panose="020F0502020204030204" pitchFamily="34" charset="-122"/>
                <a:cs typeface="Calibri" panose="020F0502020204030204" pitchFamily="34" charset="-120"/>
              </a:rPr>
              <a:t>Đề xuất 2 mức cảnh báo</a:t>
            </a:r>
            <a:endParaRPr lang="en-US" sz="1500" dirty="0"/>
          </a:p>
          <a:p>
            <a:pPr marL="0" indent="0">
              <a:spcAft>
                <a:spcPts val="300"/>
              </a:spcAft>
              <a:buNone/>
            </a:pPr>
            <a:r>
              <a:rPr lang="en-US" sz="1400" b="1" dirty="0">
                <a:solidFill>
                  <a:srgbClr val="C4444E"/>
                </a:solidFill>
                <a:latin typeface="Calibri" panose="020F0502020204030204" pitchFamily="34" charset="0"/>
                <a:ea typeface="Calibri" panose="020F0502020204030204" pitchFamily="34" charset="-122"/>
                <a:cs typeface="Calibri" panose="020F0502020204030204" pitchFamily="34" charset="-120"/>
              </a:rPr>
              <a:t>● Mức CAO (chắc chắn)</a:t>
            </a:r>
            <a:endParaRPr lang="en-US" sz="1500" dirty="0"/>
          </a:p>
          <a:p>
            <a:pPr marL="0" indent="0">
              <a:spcAft>
                <a:spcPts val="1200"/>
              </a:spcAft>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dừng máy kiểm tra ngay</a:t>
            </a:r>
            <a:endParaRPr lang="en-US" sz="1500" dirty="0"/>
          </a:p>
          <a:p>
            <a:pPr marL="0" indent="0">
              <a:spcAft>
                <a:spcPts val="300"/>
              </a:spcAft>
              <a:buNone/>
            </a:pPr>
            <a:r>
              <a:rPr lang="en-US" sz="1400" b="1" dirty="0">
                <a:solidFill>
                  <a:srgbClr val="F2A104"/>
                </a:solidFill>
                <a:latin typeface="Calibri" panose="020F0502020204030204" pitchFamily="34" charset="0"/>
                <a:ea typeface="Calibri" panose="020F0502020204030204" pitchFamily="34" charset="-122"/>
                <a:cs typeface="Calibri" panose="020F0502020204030204" pitchFamily="34" charset="-120"/>
              </a:rPr>
              <a:t>● Mức THẤP (nghi ngờ)</a:t>
            </a:r>
            <a:endParaRPr lang="en-US" sz="1500" dirty="0"/>
          </a:p>
          <a:p>
            <a:pPr marL="0" indent="0">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 theo dõi thêm / lên lịch bảo trì gần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Phần 5.2 — Hạn chế &amp; Hướng cải tiến</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Shape 3"/>
          <p:cNvSpPr/>
          <p:nvPr/>
        </p:nvSpPr>
        <p:spPr>
          <a:xfrm>
            <a:off x="566928" y="1737360"/>
            <a:ext cx="5486400" cy="4023360"/>
          </a:xfrm>
          <a:prstGeom prst="roundRect">
            <a:avLst>
              <a:gd name="adj" fmla="val 2045"/>
            </a:avLst>
          </a:prstGeom>
          <a:solidFill>
            <a:srgbClr val="FBEEEF"/>
          </a:solidFill>
          <a:ln w="12700">
            <a:solidFill>
              <a:srgbClr val="D6DFE7"/>
            </a:solidFill>
            <a:prstDash val="solid"/>
          </a:ln>
        </p:spPr>
        <p:txBody>
          <a:bodyPr/>
          <a:p/>
        </p:txBody>
      </p:sp>
      <p:sp>
        <p:nvSpPr>
          <p:cNvPr id="6" name="Text 4"/>
          <p:cNvSpPr/>
          <p:nvPr/>
        </p:nvSpPr>
        <p:spPr>
          <a:xfrm>
            <a:off x="731520" y="1847088"/>
            <a:ext cx="5157216" cy="3803904"/>
          </a:xfrm>
          <a:prstGeom prst="rect">
            <a:avLst/>
          </a:prstGeom>
          <a:noFill/>
        </p:spPr>
        <p:txBody>
          <a:bodyPr wrap="square" lIns="0" tIns="0" rIns="0" bIns="0" rtlCol="0" anchor="t"/>
          <a:lstStyle/>
          <a:p>
            <a:pPr marL="0" indent="0">
              <a:spcAft>
                <a:spcPts val="1000"/>
              </a:spcAft>
              <a:buNone/>
            </a:pPr>
            <a:r>
              <a:rPr lang="en-US" sz="1500" b="1" dirty="0">
                <a:solidFill>
                  <a:srgbClr val="C4444E"/>
                </a:solidFill>
                <a:latin typeface="Calibri" panose="020F0502020204030204" pitchFamily="34" charset="0"/>
                <a:ea typeface="Calibri" panose="020F0502020204030204" pitchFamily="34" charset="-122"/>
                <a:cs typeface="Calibri" panose="020F0502020204030204" pitchFamily="34" charset="-120"/>
              </a:rPr>
              <a:t>CÒN HẠN CHẾ</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Mô hình cây đoán kém ở vùng chưa từng thấy (2,8% máy B ngoài dải A).</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Giả định 'cơ chế hỏng không đổi A↔B' chưa kiểm chứng 100% (không có nhãn B).</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Độ tin IWV giới hạn (ESS 24,2%).</a:t>
            </a:r>
            <a:endParaRPr lang="en-US" sz="1500" dirty="0"/>
          </a:p>
          <a:p>
            <a:pPr marL="0" indent="0">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Chỉ 5 số đo; ~25% ca hỏng là nhiễu ngẫu nhiên → trần F1 ≈ 0,78 (đã định lượng).</a:t>
            </a:r>
            <a:endParaRPr lang="en-US" sz="1500" dirty="0"/>
          </a:p>
        </p:txBody>
      </p:sp>
      <p:sp>
        <p:nvSpPr>
          <p:cNvPr id="7" name="Shape 5"/>
          <p:cNvSpPr/>
          <p:nvPr/>
        </p:nvSpPr>
        <p:spPr>
          <a:xfrm>
            <a:off x="6263640" y="1737360"/>
            <a:ext cx="5349240" cy="4023360"/>
          </a:xfrm>
          <a:prstGeom prst="roundRect">
            <a:avLst>
              <a:gd name="adj" fmla="val 2045"/>
            </a:avLst>
          </a:prstGeom>
          <a:solidFill>
            <a:srgbClr val="E9F3EE"/>
          </a:solidFill>
          <a:ln w="12700">
            <a:solidFill>
              <a:srgbClr val="D6DFE7"/>
            </a:solidFill>
            <a:prstDash val="solid"/>
          </a:ln>
        </p:spPr>
        <p:txBody>
          <a:bodyPr/>
          <a:p/>
        </p:txBody>
      </p:sp>
      <p:sp>
        <p:nvSpPr>
          <p:cNvPr id="8" name="Text 6"/>
          <p:cNvSpPr/>
          <p:nvPr/>
        </p:nvSpPr>
        <p:spPr>
          <a:xfrm>
            <a:off x="6428232" y="1847088"/>
            <a:ext cx="5020056" cy="3803904"/>
          </a:xfrm>
          <a:prstGeom prst="rect">
            <a:avLst/>
          </a:prstGeom>
          <a:noFill/>
        </p:spPr>
        <p:txBody>
          <a:bodyPr wrap="square" lIns="0" tIns="0" rIns="0" bIns="0" rtlCol="0" anchor="t"/>
          <a:lstStyle/>
          <a:p>
            <a:pPr marL="0" indent="0">
              <a:spcAft>
                <a:spcPts val="1000"/>
              </a:spcAft>
              <a:buNone/>
            </a:pPr>
            <a:r>
              <a:rPr lang="en-US" sz="1500" b="1" dirty="0">
                <a:solidFill>
                  <a:srgbClr val="2E8B57"/>
                </a:solidFill>
                <a:latin typeface="Calibri" panose="020F0502020204030204" pitchFamily="34" charset="0"/>
                <a:ea typeface="Calibri" panose="020F0502020204030204" pitchFamily="34" charset="-122"/>
                <a:cs typeface="Calibri" panose="020F0502020204030204" pitchFamily="34" charset="-120"/>
              </a:rPr>
              <a:t>SẼ CẢI TIẾN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 ĐÃ LÀM: khôi phục luật sinh nhãn từ A (PWF/OSF mới + TWF mòn&gt;244) → precision luật 0,26→0,81, F1 0,781→0,783.</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Thêm dữ liệu theo thời gian (xu hướng mòn dao) → cảnh báo sớm hơn.</a:t>
            </a:r>
            <a:endParaRPr lang="en-US" sz="1500" dirty="0"/>
          </a:p>
          <a:p>
            <a:pPr marL="0" indent="0">
              <a:spcAft>
                <a:spcPts val="800"/>
              </a:spcAft>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Domain adaptation nâng cao (CORAL, adversarial).</a:t>
            </a:r>
            <a:endParaRPr lang="en-US" sz="1500" dirty="0"/>
          </a:p>
          <a:p>
            <a:pPr marL="0" indent="0">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 Thu thập một ít nhãn B để kiểm chứng giả định &amp; tinh chỉnh.</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9537192" cy="822960"/>
          </a:xfrm>
          <a:prstGeom prst="rect">
            <a:avLst/>
          </a:prstGeom>
          <a:noFill/>
        </p:spPr>
        <p:txBody>
          <a:bodyPr wrap="square" lIns="0" tIns="0" rIns="0" bIns="0" rtlCol="0" anchor="ctr"/>
          <a:lstStyle/>
          <a:p>
            <a:pPr marL="0" indent="0">
              <a:buNone/>
            </a:pPr>
            <a:r>
              <a:rPr lang="en-US" sz="2700" b="1" dirty="0">
                <a:solidFill>
                  <a:srgbClr val="16283A"/>
                </a:solidFill>
                <a:latin typeface="Cambria" panose="02040503050406030204" pitchFamily="34" charset="0"/>
                <a:ea typeface="Cambria" panose="02040503050406030204" pitchFamily="34" charset="-122"/>
                <a:cs typeface="Cambria" panose="02040503050406030204" pitchFamily="34" charset="-120"/>
              </a:rPr>
              <a:t>Quyết định kỹ thuật &amp; lý do (sẵn sàng giải thích)</a:t>
            </a:r>
            <a:endParaRPr lang="en-US" sz="2700" dirty="0"/>
          </a:p>
        </p:txBody>
      </p:sp>
      <p:sp>
        <p:nvSpPr>
          <p:cNvPr id="4" name="Text 2"/>
          <p:cNvSpPr/>
          <p:nvPr/>
        </p:nvSpPr>
        <p:spPr>
          <a:xfrm>
            <a:off x="10222992" y="292608"/>
            <a:ext cx="1417320" cy="38404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Người 4</a:t>
            </a:r>
            <a:endParaRPr lang="en-US" sz="1200" dirty="0"/>
          </a:p>
        </p:txBody>
      </p:sp>
      <p:sp>
        <p:nvSpPr>
          <p:cNvPr id="5" name="Text 3"/>
          <p:cNvSpPr/>
          <p:nvPr/>
        </p:nvSpPr>
        <p:spPr>
          <a:xfrm>
            <a:off x="566928" y="1170432"/>
            <a:ext cx="11091672" cy="457200"/>
          </a:xfrm>
          <a:prstGeom prst="rect">
            <a:avLst/>
          </a:prstGeom>
          <a:noFill/>
        </p:spPr>
        <p:txBody>
          <a:bodyPr wrap="square" lIns="0" tIns="0" rIns="0" bIns="0" rtlCol="0" anchor="ctr"/>
          <a:lstStyle/>
          <a:p>
            <a:pPr marL="0" indent="0">
              <a:buNone/>
            </a:pPr>
            <a:r>
              <a:rPr lang="en-US" sz="1400" i="1" dirty="0">
                <a:solidFill>
                  <a:srgbClr val="1F8A8C"/>
                </a:solidFill>
                <a:latin typeface="Calibri" panose="020F0502020204030204" pitchFamily="34" charset="0"/>
                <a:ea typeface="Calibri" panose="020F0502020204030204" pitchFamily="34" charset="-122"/>
                <a:cs typeface="Calibri" panose="020F0502020204030204" pitchFamily="34" charset="-120"/>
              </a:rPr>
              <a:t>Mọi lựa chọn đều có lý do </a:t>
            </a:r>
            <a:endParaRPr lang="en-US" sz="1400" dirty="0"/>
          </a:p>
        </p:txBody>
      </p:sp>
      <p:graphicFrame>
        <p:nvGraphicFramePr>
          <p:cNvPr id="28" name="Table 0"/>
          <p:cNvGraphicFramePr>
            <a:graphicFrameLocks noGrp="1"/>
          </p:cNvGraphicFramePr>
          <p:nvPr/>
        </p:nvGraphicFramePr>
        <p:xfrm>
          <a:off x="566928" y="1783080"/>
          <a:ext cx="11064240" cy="4279392"/>
        </p:xfrm>
        <a:graphic>
          <a:graphicData uri="http://schemas.openxmlformats.org/drawingml/2006/table">
            <a:tbl>
              <a:tblPr/>
              <a:tblGrid>
                <a:gridCol w="4114800"/>
                <a:gridCol w="6949440"/>
              </a:tblGrid>
              <a:tr h="475488">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Quyết định</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c>
                  <a:txBody>
                    <a:bodyP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Vì sao</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16283A"/>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Metric F1 / AUC-PR, bỏ accuracy</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lớp hỏng ~8% → accuracy 92% vẫn vô dụng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4 đặc trưng neo ngưỡng cơ chế (khôi phục từ A)</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hằng số cơ chế bất biến A↔B (PSI≈0, drift-AUC 0,53)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Mô hình cây (RF/XGB/ExtraTrees)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tín hiệu hỏng phi tuyến theo tổ hợp → LogReg tuyến tính hụt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class_weight / scale_pos_weight (không SMOTE)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tránh sinh mẫu tổng hợp phi vật lý dưới shift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Chọn model &amp; ngưỡng bằng IWV</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bị chấm trên B nhưng cấm nhìn nhãn B → chống rò rỉ</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Clip trọng số reweighting [0,2 ; 10]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w thô nổ tới ~77 → chặn vài mẫu cá biệt chi phối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Chốt Voting (RF+ET+XGB) thay Stacking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F1-IWV ngang nhau; Voting đơn giản, khó overfit shift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FFFFF"/>
                    </a:solidFill>
                  </a:tcPr>
                </a:tc>
              </a:tr>
              <a:tr h="475488">
                <a:tc>
                  <a:txBody>
                    <a:bodyPr/>
                    <a:lstStyle/>
                    <a:p>
                      <a:pPr marL="0" indent="0" algn="l">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Bootstrap 95% CI + so cặp</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c>
                  <a:txBody>
                    <a:bodyPr/>
                    <a:lstStyle/>
                    <a:p>
                      <a:pPr marL="0" indent="0" algn="ctr">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F1 lớp hiếm nhiễu (477 mẫu) → không thổi phồng chênh nhỏ</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marL="50800" marR="50800" marT="25400" marB="25400" anchor="ctr">
                    <a:lnL w="12700" cap="flat" cmpd="sng" algn="ctr">
                      <a:solidFill>
                        <a:srgbClr val="D6DFE7"/>
                      </a:solidFill>
                      <a:prstDash val="solid"/>
                      <a:round/>
                      <a:headEnd type="none" w="med" len="med"/>
                      <a:tailEnd type="none" w="med" len="med"/>
                    </a:lnL>
                    <a:lnR w="12700" cap="flat" cmpd="sng" algn="ctr">
                      <a:solidFill>
                        <a:srgbClr val="D6DFE7"/>
                      </a:solidFill>
                      <a:prstDash val="solid"/>
                      <a:round/>
                      <a:headEnd type="none" w="med" len="med"/>
                      <a:tailEnd type="none" w="med" len="med"/>
                    </a:lnR>
                    <a:lnT w="12700" cap="flat" cmpd="sng" algn="ctr">
                      <a:solidFill>
                        <a:srgbClr val="D6DFE7"/>
                      </a:solidFill>
                      <a:prstDash val="solid"/>
                      <a:round/>
                      <a:headEnd type="none" w="med" len="med"/>
                      <a:tailEnd type="none" w="med" len="med"/>
                    </a:lnT>
                    <a:lnB w="12700" cap="flat" cmpd="sng" algn="ctr">
                      <a:solidFill>
                        <a:srgbClr val="D6DFE7"/>
                      </a:solidFill>
                      <a:prstDash val="solid"/>
                      <a:round/>
                      <a:headEnd type="none" w="med" len="med"/>
                      <a:tailEnd type="none" w="med" len="med"/>
                    </a:lnB>
                    <a:solidFill>
                      <a:srgbClr val="F3F6F9"/>
                    </a:solidFill>
                  </a:tcPr>
                </a:tc>
              </a:tr>
            </a:tbl>
          </a:graphicData>
        </a:graphic>
      </p:graphicFrame>
      <p:sp>
        <p:nvSpPr>
          <p:cNvPr id="6" name="Text Box 5"/>
          <p:cNvSpPr txBox="1"/>
          <p:nvPr/>
        </p:nvSpPr>
        <p:spPr>
          <a:xfrm>
            <a:off x="4471035" y="1276350"/>
            <a:ext cx="4064000" cy="368300"/>
          </a:xfrm>
          <a:prstGeom prst="rect">
            <a:avLst/>
          </a:prstGeom>
          <a:noFill/>
        </p:spPr>
        <p:txBody>
          <a:bodyPr wrap="square" rtlCol="0">
            <a:spAutoFit/>
          </a:bodyPr>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txBody>
          <a:bodyPr/>
          <a:p/>
        </p:txBody>
      </p:sp>
      <p:sp>
        <p:nvSpPr>
          <p:cNvPr id="3" name="Text 1"/>
          <p:cNvSpPr/>
          <p:nvPr/>
        </p:nvSpPr>
        <p:spPr>
          <a:xfrm>
            <a:off x="731520" y="640080"/>
            <a:ext cx="10058400" cy="822960"/>
          </a:xfrm>
          <a:prstGeom prst="rect">
            <a:avLst/>
          </a:prstGeom>
          <a:noFill/>
        </p:spPr>
        <p:txBody>
          <a:bodyPr wrap="square" lIns="0" tIns="0" rIns="0" bIns="0"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Kết luận</a:t>
            </a:r>
            <a:endParaRPr lang="en-US" sz="3400" dirty="0"/>
          </a:p>
        </p:txBody>
      </p:sp>
      <p:sp>
        <p:nvSpPr>
          <p:cNvPr id="4" name="Shape 2"/>
          <p:cNvSpPr/>
          <p:nvPr/>
        </p:nvSpPr>
        <p:spPr>
          <a:xfrm>
            <a:off x="822960" y="1737360"/>
            <a:ext cx="457200" cy="457200"/>
          </a:xfrm>
          <a:prstGeom prst="rect">
            <a:avLst/>
          </a:prstGeom>
          <a:solidFill>
            <a:srgbClr val="F2A104"/>
          </a:solidFill>
        </p:spPr>
        <p:txBody>
          <a:bodyPr/>
          <a:p/>
        </p:txBody>
      </p:sp>
      <p:sp>
        <p:nvSpPr>
          <p:cNvPr id="5" name="Text 3"/>
          <p:cNvSpPr/>
          <p:nvPr/>
        </p:nvSpPr>
        <p:spPr>
          <a:xfrm>
            <a:off x="822960" y="173736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1</a:t>
            </a:r>
            <a:endParaRPr lang="en-US" sz="2000" dirty="0"/>
          </a:p>
        </p:txBody>
      </p:sp>
      <p:sp>
        <p:nvSpPr>
          <p:cNvPr id="6" name="Text 4"/>
          <p:cNvSpPr/>
          <p:nvPr/>
        </p:nvSpPr>
        <p:spPr>
          <a:xfrm>
            <a:off x="1463040" y="170992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Chìa khoá: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bám 'quy luật vật lý không đổi' thay vì các con số thô đã bị lệch.</a:t>
            </a:r>
            <a:endParaRPr lang="en-US" sz="1700" dirty="0"/>
          </a:p>
        </p:txBody>
      </p:sp>
      <p:sp>
        <p:nvSpPr>
          <p:cNvPr id="7" name="Shape 5"/>
          <p:cNvSpPr/>
          <p:nvPr/>
        </p:nvSpPr>
        <p:spPr>
          <a:xfrm>
            <a:off x="822960" y="2606040"/>
            <a:ext cx="457200" cy="457200"/>
          </a:xfrm>
          <a:prstGeom prst="rect">
            <a:avLst/>
          </a:prstGeom>
          <a:solidFill>
            <a:srgbClr val="F2A104"/>
          </a:solidFill>
        </p:spPr>
        <p:txBody>
          <a:bodyPr/>
          <a:p/>
        </p:txBody>
      </p:sp>
      <p:sp>
        <p:nvSpPr>
          <p:cNvPr id="8" name="Text 6"/>
          <p:cNvSpPr/>
          <p:nvPr/>
        </p:nvSpPr>
        <p:spPr>
          <a:xfrm>
            <a:off x="822960" y="260604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2</a:t>
            </a:r>
            <a:endParaRPr lang="en-US" sz="2000" dirty="0"/>
          </a:p>
        </p:txBody>
      </p:sp>
      <p:sp>
        <p:nvSpPr>
          <p:cNvPr id="9" name="Text 7"/>
          <p:cNvSpPr/>
          <p:nvPr/>
        </p:nvSpPr>
        <p:spPr>
          <a:xfrm>
            <a:off x="1463040" y="257860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Nhờ đó: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mô hình học ở nhà máy A vẫn chạy tốt trên nhà máy B.</a:t>
            </a:r>
            <a:endParaRPr lang="en-US" sz="1700" dirty="0"/>
          </a:p>
        </p:txBody>
      </p:sp>
      <p:sp>
        <p:nvSpPr>
          <p:cNvPr id="10" name="Shape 8"/>
          <p:cNvSpPr/>
          <p:nvPr/>
        </p:nvSpPr>
        <p:spPr>
          <a:xfrm>
            <a:off x="822960" y="3474720"/>
            <a:ext cx="457200" cy="457200"/>
          </a:xfrm>
          <a:prstGeom prst="rect">
            <a:avLst/>
          </a:prstGeom>
          <a:solidFill>
            <a:srgbClr val="F2A104"/>
          </a:solidFill>
        </p:spPr>
        <p:txBody>
          <a:bodyPr/>
          <a:p/>
        </p:txBody>
      </p:sp>
      <p:sp>
        <p:nvSpPr>
          <p:cNvPr id="11" name="Text 9"/>
          <p:cNvSpPr/>
          <p:nvPr/>
        </p:nvSpPr>
        <p:spPr>
          <a:xfrm>
            <a:off x="822960" y="347472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3</a:t>
            </a:r>
            <a:endParaRPr lang="en-US" sz="2000" dirty="0"/>
          </a:p>
        </p:txBody>
      </p:sp>
      <p:sp>
        <p:nvSpPr>
          <p:cNvPr id="12" name="Text 10"/>
          <p:cNvSpPr/>
          <p:nvPr/>
        </p:nvSpPr>
        <p:spPr>
          <a:xfrm>
            <a:off x="1463040" y="344728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Trung thực: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mọi lựa chọn 'chấm thử giả lập B' (IWV) — không nhìn đáp án thật.</a:t>
            </a:r>
            <a:endParaRPr lang="en-US" sz="1700" dirty="0"/>
          </a:p>
        </p:txBody>
      </p:sp>
      <p:sp>
        <p:nvSpPr>
          <p:cNvPr id="13" name="Shape 11"/>
          <p:cNvSpPr/>
          <p:nvPr/>
        </p:nvSpPr>
        <p:spPr>
          <a:xfrm>
            <a:off x="822960" y="4343400"/>
            <a:ext cx="457200" cy="457200"/>
          </a:xfrm>
          <a:prstGeom prst="rect">
            <a:avLst/>
          </a:prstGeom>
          <a:solidFill>
            <a:srgbClr val="F2A104"/>
          </a:solidFill>
        </p:spPr>
        <p:txBody>
          <a:bodyPr/>
          <a:p/>
        </p:txBody>
      </p:sp>
      <p:sp>
        <p:nvSpPr>
          <p:cNvPr id="14" name="Text 12"/>
          <p:cNvSpPr/>
          <p:nvPr/>
        </p:nvSpPr>
        <p:spPr>
          <a:xfrm>
            <a:off x="822960" y="4343400"/>
            <a:ext cx="457200" cy="457200"/>
          </a:xfrm>
          <a:prstGeom prst="rect">
            <a:avLst/>
          </a:prstGeom>
          <a:noFill/>
        </p:spPr>
        <p:txBody>
          <a:bodyPr wrap="square" lIns="0" tIns="0" rIns="0" bIns="0" rtlCol="0" anchor="ctr"/>
          <a:lstStyle/>
          <a:p>
            <a:pPr marL="0" indent="0" algn="ctr">
              <a:buNone/>
            </a:pPr>
            <a:r>
              <a:rPr lang="en-US" sz="2000" b="1" dirty="0">
                <a:solidFill>
                  <a:srgbClr val="16283A"/>
                </a:solidFill>
                <a:latin typeface="Cambria" panose="02040503050406030204" pitchFamily="34" charset="0"/>
                <a:ea typeface="Cambria" panose="02040503050406030204" pitchFamily="34" charset="-122"/>
                <a:cs typeface="Cambria" panose="02040503050406030204" pitchFamily="34" charset="-120"/>
              </a:rPr>
              <a:t>4</a:t>
            </a:r>
            <a:endParaRPr lang="en-US" sz="2000" dirty="0"/>
          </a:p>
        </p:txBody>
      </p:sp>
      <p:sp>
        <p:nvSpPr>
          <p:cNvPr id="15" name="Text 13"/>
          <p:cNvSpPr/>
          <p:nvPr/>
        </p:nvSpPr>
        <p:spPr>
          <a:xfrm>
            <a:off x="1463040" y="4315968"/>
            <a:ext cx="9875520" cy="640080"/>
          </a:xfrm>
          <a:prstGeom prst="rect">
            <a:avLst/>
          </a:prstGeom>
          <a:noFill/>
        </p:spPr>
        <p:txBody>
          <a:bodyPr wrap="square" lIns="0" tIns="0" rIns="0" bIns="0" rtlCol="0" anchor="ctr"/>
          <a:lstStyle/>
          <a:p>
            <a:pPr marL="0" indent="0">
              <a:buNone/>
            </a:pPr>
            <a:r>
              <a:rPr lang="en-US" sz="1700" b="1" dirty="0">
                <a:solidFill>
                  <a:srgbClr val="F2A104"/>
                </a:solidFill>
                <a:latin typeface="Calibri" panose="020F0502020204030204" pitchFamily="34" charset="0"/>
                <a:ea typeface="Calibri" panose="020F0502020204030204" pitchFamily="34" charset="-122"/>
                <a:cs typeface="Calibri" panose="020F0502020204030204" pitchFamily="34" charset="-120"/>
              </a:rPr>
              <a:t>Kết quả:  </a:t>
            </a:r>
            <a:r>
              <a:rPr lang="en-US" sz="1700" dirty="0">
                <a:solidFill>
                  <a:srgbClr val="FFFFFF"/>
                </a:solidFill>
                <a:latin typeface="Calibri" panose="020F0502020204030204" pitchFamily="34" charset="0"/>
                <a:ea typeface="Calibri" panose="020F0502020204030204" pitchFamily="34" charset="-122"/>
                <a:cs typeface="Calibri" panose="020F0502020204030204" pitchFamily="34" charset="-120"/>
              </a:rPr>
              <a:t>F1 = 0,783 trên nhà máy B, tốt gấp 3,4 lần baseline.</a:t>
            </a:r>
            <a:endParaRPr lang="en-US" sz="1700" dirty="0"/>
          </a:p>
        </p:txBody>
      </p:sp>
      <p:sp>
        <p:nvSpPr>
          <p:cNvPr id="16" name="Text 14"/>
          <p:cNvSpPr/>
          <p:nvPr/>
        </p:nvSpPr>
        <p:spPr>
          <a:xfrm>
            <a:off x="731520" y="5806440"/>
            <a:ext cx="10515600" cy="548640"/>
          </a:xfrm>
          <a:prstGeom prst="rect">
            <a:avLst/>
          </a:prstGeom>
          <a:noFill/>
        </p:spPr>
        <p:txBody>
          <a:bodyPr wrap="square" lIns="0" tIns="0" rIns="0" bIns="0" rtlCol="0" anchor="ctr"/>
          <a:lstStyle/>
          <a:p>
            <a:pPr marL="0" indent="0">
              <a:buNone/>
            </a:pPr>
            <a:r>
              <a:rPr lang="en-US" sz="1600" i="1" dirty="0">
                <a:solidFill>
                  <a:srgbClr val="CFE0EC"/>
                </a:solidFill>
                <a:latin typeface="Calibri" panose="020F0502020204030204" pitchFamily="34" charset="0"/>
                <a:ea typeface="Calibri" panose="020F0502020204030204" pitchFamily="34" charset="-122"/>
                <a:cs typeface="Calibri" panose="020F0502020204030204" pitchFamily="34" charset="-120"/>
              </a:rPr>
              <a:t>Cảm ơn thầy/cô đã lắng nghe — Nhóm sẵn sàng Hỏi &amp; Đáp</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6283A"/>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83A"/>
          </a:solidFill>
        </p:spPr>
      </p:sp>
      <p:sp>
        <p:nvSpPr>
          <p:cNvPr id="3" name="Text 1"/>
          <p:cNvSpPr/>
          <p:nvPr/>
        </p:nvSpPr>
        <p:spPr>
          <a:xfrm>
            <a:off x="0" y="2194560"/>
            <a:ext cx="12188952" cy="1097280"/>
          </a:xfrm>
          <a:prstGeom prst="rect">
            <a:avLst/>
          </a:prstGeom>
          <a:noFill/>
        </p:spPr>
        <p:txBody>
          <a:bodyPr wrap="square" lIns="0" tIns="0" rIns="0" bIns="0" rtlCol="0" anchor="ctr"/>
          <a:lstStyle/>
          <a:p>
            <a:pPr marL="0" indent="0" algn="ctr">
              <a:buNone/>
            </a:pPr>
            <a:r>
              <a:rPr lang="en-US" sz="5400" b="1" dirty="0">
                <a:solidFill>
                  <a:srgbClr val="FFFFFF"/>
                </a:solidFill>
                <a:latin typeface="Cambria" panose="02040503050406030204" pitchFamily="34" charset="0"/>
                <a:ea typeface="Cambria" panose="02040503050406030204" pitchFamily="34" charset="-122"/>
                <a:cs typeface="Cambria" panose="02040503050406030204" pitchFamily="34" charset="-120"/>
              </a:rPr>
              <a:t>Hỏi &amp; Đáp</a:t>
            </a:r>
            <a:endParaRPr lang="en-US" sz="5400" dirty="0"/>
          </a:p>
        </p:txBody>
      </p:sp>
      <p:sp>
        <p:nvSpPr>
          <p:cNvPr id="4" name="Text 2"/>
          <p:cNvSpPr/>
          <p:nvPr/>
        </p:nvSpPr>
        <p:spPr>
          <a:xfrm>
            <a:off x="0" y="3383280"/>
            <a:ext cx="12188952" cy="548640"/>
          </a:xfrm>
          <a:prstGeom prst="rect">
            <a:avLst/>
          </a:prstGeom>
          <a:noFill/>
        </p:spPr>
        <p:txBody>
          <a:bodyPr wrap="square" lIns="0" tIns="0" rIns="0" bIns="0" rtlCol="0" anchor="ctr"/>
          <a:lstStyle/>
          <a:p>
            <a:pPr marL="0" indent="0" algn="ctr">
              <a:buNone/>
            </a:pPr>
            <a:r>
              <a:rPr lang="en-US" sz="2000" kern="0" spc="600" dirty="0">
                <a:solidFill>
                  <a:srgbClr val="F2A104"/>
                </a:solidFill>
                <a:latin typeface="Calibri" panose="020F0502020204030204" pitchFamily="34" charset="0"/>
                <a:ea typeface="Calibri" panose="020F0502020204030204" pitchFamily="34" charset="-122"/>
                <a:cs typeface="Calibri" panose="020F0502020204030204" pitchFamily="34" charset="-120"/>
              </a:rPr>
              <a:t>Q &amp; A</a:t>
            </a:r>
            <a:endParaRPr lang="en-US" sz="2000" dirty="0"/>
          </a:p>
        </p:txBody>
      </p:sp>
      <p:sp>
        <p:nvSpPr>
          <p:cNvPr id="5" name="Text 3"/>
          <p:cNvSpPr/>
          <p:nvPr/>
        </p:nvSpPr>
        <p:spPr>
          <a:xfrm>
            <a:off x="0" y="4206240"/>
            <a:ext cx="12188952" cy="457200"/>
          </a:xfrm>
          <a:prstGeom prst="rect">
            <a:avLst/>
          </a:prstGeom>
          <a:noFill/>
        </p:spPr>
        <p:txBody>
          <a:bodyPr wrap="square" lIns="0" tIns="0" rIns="0" bIns="0" rtlCol="0" anchor="ctr"/>
          <a:lstStyle/>
          <a:p>
            <a:pPr marL="0" indent="0" algn="ctr">
              <a:buNone/>
            </a:pP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12253</Words>
  <Application>WPS Presentation</Application>
  <PresentationFormat>On-screen Show (16:9)</PresentationFormat>
  <Paragraphs>635</Paragraphs>
  <Slides>28</Slides>
  <Notes>29</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28</vt:i4>
      </vt:variant>
    </vt:vector>
  </HeadingPairs>
  <TitlesOfParts>
    <vt:vector size="42"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Calibri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Maintenance duoi Distribution Shift — v5</dc:title>
  <dc:creator>Nhom ML</dc:creator>
  <dc:subject>PptxGenJS Presentation</dc:subject>
  <cp:lastModifiedBy>Trịnh Hữu Tuấn</cp:lastModifiedBy>
  <cp:revision>6</cp:revision>
  <dcterms:created xsi:type="dcterms:W3CDTF">2026-07-14T14:33:00Z</dcterms:created>
  <dcterms:modified xsi:type="dcterms:W3CDTF">2026-07-15T14:35:40Z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F2B60FFC2F174952967080F39301C752_12</vt:lpwstr>
  </property>
  <property fmtid="{D5CDD505-2E9C-101B-9397-08002B2CF9AE}" pid="3" name="KSOProductBuildVer">
    <vt:lpwstr>1033-12.1.0.26880</vt:lpwstr>
  </property>
</Properties>
</file>